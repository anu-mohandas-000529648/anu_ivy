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69" r:id="rId4"/>
    <p:sldId id="262" r:id="rId5"/>
    <p:sldId id="279" r:id="rId6"/>
    <p:sldId id="265" r:id="rId7"/>
    <p:sldId id="278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1CF587-8677-0C48-3BAF-B851E9C26CF4}" v="885" dt="2024-12-13T16:02:28.553"/>
    <p1510:client id="{A4B51430-0F01-815A-EB04-D5315F56CCC3}" v="185" dt="2024-12-13T19:37:10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0FFDC5-4898-4D18-9C44-E038E87391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DBA2015A-18CC-4FD0-8E3A-9EC497D4E1E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Real estate prices are volatile and accurate housing price predictions support better decision-making for buyers, sellers, and policymakers.</a:t>
          </a:r>
        </a:p>
      </dgm:t>
    </dgm:pt>
    <dgm:pt modelId="{CD8BDFCA-11B4-4353-A4B6-AB8903DD9674}" type="parTrans" cxnId="{259030BE-2441-41A6-BAD1-79794D0A3EF8}">
      <dgm:prSet/>
      <dgm:spPr/>
      <dgm:t>
        <a:bodyPr/>
        <a:lstStyle/>
        <a:p>
          <a:endParaRPr lang="en-US"/>
        </a:p>
      </dgm:t>
    </dgm:pt>
    <dgm:pt modelId="{8BEC6255-D942-442C-92A8-7D02FC216D0E}" type="sibTrans" cxnId="{259030BE-2441-41A6-BAD1-79794D0A3EF8}">
      <dgm:prSet/>
      <dgm:spPr/>
      <dgm:t>
        <a:bodyPr/>
        <a:lstStyle/>
        <a:p>
          <a:endParaRPr lang="en-US"/>
        </a:p>
      </dgm:t>
    </dgm:pt>
    <dgm:pt modelId="{8BB64F91-FE63-432B-BEFF-B15FD3B688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This project analyzes the key elements that influencing house prices, such as location, property size, market trends, and economic conditions.</a:t>
          </a:r>
        </a:p>
      </dgm:t>
    </dgm:pt>
    <dgm:pt modelId="{399D63B1-9C4F-4C86-9856-D98E4E2012EF}" type="parTrans" cxnId="{D9996E52-2AC6-49CF-8410-D1766B1B5AAA}">
      <dgm:prSet/>
      <dgm:spPr/>
      <dgm:t>
        <a:bodyPr/>
        <a:lstStyle/>
        <a:p>
          <a:endParaRPr lang="en-US"/>
        </a:p>
      </dgm:t>
    </dgm:pt>
    <dgm:pt modelId="{5BA460ED-AED8-40AF-8ECB-B6B67405BC57}" type="sibTrans" cxnId="{D9996E52-2AC6-49CF-8410-D1766B1B5AAA}">
      <dgm:prSet/>
      <dgm:spPr/>
      <dgm:t>
        <a:bodyPr/>
        <a:lstStyle/>
        <a:p>
          <a:endParaRPr lang="en-US"/>
        </a:p>
      </dgm:t>
    </dgm:pt>
    <dgm:pt modelId="{E639B872-5497-44EE-8979-7456793C8E0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Machine Learning (ML), a branch of AI, enables systems to learn from data, adapt, and address real-world challenges like predictive analytics and forecasting.</a:t>
          </a:r>
        </a:p>
      </dgm:t>
    </dgm:pt>
    <dgm:pt modelId="{D85702A1-11C4-408C-869C-5974711E269B}" type="parTrans" cxnId="{6A97BB2C-FF6A-4EDD-8E6B-18CEE5B6C06A}">
      <dgm:prSet/>
      <dgm:spPr/>
    </dgm:pt>
    <dgm:pt modelId="{41437167-3DD1-4684-90A0-33E0F4739D8A}" type="sibTrans" cxnId="{6A97BB2C-FF6A-4EDD-8E6B-18CEE5B6C06A}">
      <dgm:prSet/>
      <dgm:spPr/>
    </dgm:pt>
    <dgm:pt modelId="{D10F778C-B8EB-4D0D-88D9-3B987F9AFC69}" type="pres">
      <dgm:prSet presAssocID="{3B0FFDC5-4898-4D18-9C44-E038E8739151}" presName="root" presStyleCnt="0">
        <dgm:presLayoutVars>
          <dgm:dir/>
          <dgm:resizeHandles val="exact"/>
        </dgm:presLayoutVars>
      </dgm:prSet>
      <dgm:spPr/>
    </dgm:pt>
    <dgm:pt modelId="{4DD40302-68A3-454C-8200-6C2D69A7AE39}" type="pres">
      <dgm:prSet presAssocID="{E639B872-5497-44EE-8979-7456793C8E0A}" presName="compNode" presStyleCnt="0"/>
      <dgm:spPr/>
    </dgm:pt>
    <dgm:pt modelId="{2461D891-D0A2-4E7E-8CAB-BC21E946FBD3}" type="pres">
      <dgm:prSet presAssocID="{E639B872-5497-44EE-8979-7456793C8E0A}" presName="bgRect" presStyleLbl="bgShp" presStyleIdx="0" presStyleCnt="3"/>
      <dgm:spPr/>
    </dgm:pt>
    <dgm:pt modelId="{761EA355-1359-47FF-9F8A-B8AD71453B6A}" type="pres">
      <dgm:prSet presAssocID="{E639B872-5497-44EE-8979-7456793C8E0A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ficial Intelligence outline"/>
        </a:ext>
      </dgm:extLst>
    </dgm:pt>
    <dgm:pt modelId="{FC0A710F-1A6A-44E0-BA95-3E4D48FD2F4A}" type="pres">
      <dgm:prSet presAssocID="{E639B872-5497-44EE-8979-7456793C8E0A}" presName="spaceRect" presStyleCnt="0"/>
      <dgm:spPr/>
    </dgm:pt>
    <dgm:pt modelId="{3250F0AF-8212-44B2-B0BA-CC97F27C8A9E}" type="pres">
      <dgm:prSet presAssocID="{E639B872-5497-44EE-8979-7456793C8E0A}" presName="parTx" presStyleLbl="revTx" presStyleIdx="0" presStyleCnt="3">
        <dgm:presLayoutVars>
          <dgm:chMax val="0"/>
          <dgm:chPref val="0"/>
        </dgm:presLayoutVars>
      </dgm:prSet>
      <dgm:spPr/>
    </dgm:pt>
    <dgm:pt modelId="{F52EAEBC-3D0D-4D08-9B5D-125ECFA20CDA}" type="pres">
      <dgm:prSet presAssocID="{41437167-3DD1-4684-90A0-33E0F4739D8A}" presName="sibTrans" presStyleCnt="0"/>
      <dgm:spPr/>
    </dgm:pt>
    <dgm:pt modelId="{72E1603B-E174-436F-9F73-B23067A0A641}" type="pres">
      <dgm:prSet presAssocID="{DBA2015A-18CC-4FD0-8E3A-9EC497D4E1E8}" presName="compNode" presStyleCnt="0"/>
      <dgm:spPr/>
    </dgm:pt>
    <dgm:pt modelId="{3077A189-ADCE-4110-BE0B-B7EF62DE8F88}" type="pres">
      <dgm:prSet presAssocID="{DBA2015A-18CC-4FD0-8E3A-9EC497D4E1E8}" presName="bgRect" presStyleLbl="bgShp" presStyleIdx="1" presStyleCnt="3"/>
      <dgm:spPr/>
    </dgm:pt>
    <dgm:pt modelId="{BFF2728D-D278-47F6-95F1-253BE285982A}" type="pres">
      <dgm:prSet presAssocID="{DBA2015A-18CC-4FD0-8E3A-9EC497D4E1E8}" presName="iconRect" presStyleLbl="node1" presStyleIdx="1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32023428-E0F7-41A7-974D-23320E9319D6}" type="pres">
      <dgm:prSet presAssocID="{DBA2015A-18CC-4FD0-8E3A-9EC497D4E1E8}" presName="spaceRect" presStyleCnt="0"/>
      <dgm:spPr/>
    </dgm:pt>
    <dgm:pt modelId="{4CB44286-7506-49BD-929E-D31AD34FC7B8}" type="pres">
      <dgm:prSet presAssocID="{DBA2015A-18CC-4FD0-8E3A-9EC497D4E1E8}" presName="parTx" presStyleLbl="revTx" presStyleIdx="1" presStyleCnt="3">
        <dgm:presLayoutVars>
          <dgm:chMax val="0"/>
          <dgm:chPref val="0"/>
        </dgm:presLayoutVars>
      </dgm:prSet>
      <dgm:spPr/>
    </dgm:pt>
    <dgm:pt modelId="{6B8DBF05-6B67-44AC-9605-5E2AD9BADDA6}" type="pres">
      <dgm:prSet presAssocID="{8BEC6255-D942-442C-92A8-7D02FC216D0E}" presName="sibTrans" presStyleCnt="0"/>
      <dgm:spPr/>
    </dgm:pt>
    <dgm:pt modelId="{ABCDB5C7-79AE-420E-A289-430A2700D04E}" type="pres">
      <dgm:prSet presAssocID="{8BB64F91-FE63-432B-BEFF-B15FD3B68885}" presName="compNode" presStyleCnt="0"/>
      <dgm:spPr/>
    </dgm:pt>
    <dgm:pt modelId="{717C76BC-1C4B-4507-B88E-A60A70F282B4}" type="pres">
      <dgm:prSet presAssocID="{8BB64F91-FE63-432B-BEFF-B15FD3B68885}" presName="bgRect" presStyleLbl="bgShp" presStyleIdx="2" presStyleCnt="3"/>
      <dgm:spPr/>
    </dgm:pt>
    <dgm:pt modelId="{A0D029F1-8E8B-4BC2-BBA6-764B49925928}" type="pres">
      <dgm:prSet presAssocID="{8BB64F91-FE63-432B-BEFF-B15FD3B688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0E51299-D330-4E95-A0EF-45E4D8F9E16B}" type="pres">
      <dgm:prSet presAssocID="{8BB64F91-FE63-432B-BEFF-B15FD3B68885}" presName="spaceRect" presStyleCnt="0"/>
      <dgm:spPr/>
    </dgm:pt>
    <dgm:pt modelId="{4ED57BCB-D77E-4B6F-90A9-CF757BA1C787}" type="pres">
      <dgm:prSet presAssocID="{8BB64F91-FE63-432B-BEFF-B15FD3B6888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3EB6902-E731-40EC-8FDE-ED1A72CBC70D}" type="presOf" srcId="{E639B872-5497-44EE-8979-7456793C8E0A}" destId="{3250F0AF-8212-44B2-B0BA-CC97F27C8A9E}" srcOrd="0" destOrd="0" presId="urn:microsoft.com/office/officeart/2018/2/layout/IconVerticalSolidList"/>
    <dgm:cxn modelId="{1A5E9D1F-520F-45D9-B395-105AF28EB640}" type="presOf" srcId="{8BB64F91-FE63-432B-BEFF-B15FD3B68885}" destId="{4ED57BCB-D77E-4B6F-90A9-CF757BA1C787}" srcOrd="0" destOrd="0" presId="urn:microsoft.com/office/officeart/2018/2/layout/IconVerticalSolidList"/>
    <dgm:cxn modelId="{6A97BB2C-FF6A-4EDD-8E6B-18CEE5B6C06A}" srcId="{3B0FFDC5-4898-4D18-9C44-E038E8739151}" destId="{E639B872-5497-44EE-8979-7456793C8E0A}" srcOrd="0" destOrd="0" parTransId="{D85702A1-11C4-408C-869C-5974711E269B}" sibTransId="{41437167-3DD1-4684-90A0-33E0F4739D8A}"/>
    <dgm:cxn modelId="{233EEE33-A97F-46D9-AF71-85DF39055841}" type="presOf" srcId="{3B0FFDC5-4898-4D18-9C44-E038E8739151}" destId="{D10F778C-B8EB-4D0D-88D9-3B987F9AFC69}" srcOrd="0" destOrd="0" presId="urn:microsoft.com/office/officeart/2018/2/layout/IconVerticalSolidList"/>
    <dgm:cxn modelId="{046AF669-6541-4F59-AA4D-0F4C2E7A2226}" type="presOf" srcId="{DBA2015A-18CC-4FD0-8E3A-9EC497D4E1E8}" destId="{4CB44286-7506-49BD-929E-D31AD34FC7B8}" srcOrd="0" destOrd="0" presId="urn:microsoft.com/office/officeart/2018/2/layout/IconVerticalSolidList"/>
    <dgm:cxn modelId="{D9996E52-2AC6-49CF-8410-D1766B1B5AAA}" srcId="{3B0FFDC5-4898-4D18-9C44-E038E8739151}" destId="{8BB64F91-FE63-432B-BEFF-B15FD3B68885}" srcOrd="2" destOrd="0" parTransId="{399D63B1-9C4F-4C86-9856-D98E4E2012EF}" sibTransId="{5BA460ED-AED8-40AF-8ECB-B6B67405BC57}"/>
    <dgm:cxn modelId="{259030BE-2441-41A6-BAD1-79794D0A3EF8}" srcId="{3B0FFDC5-4898-4D18-9C44-E038E8739151}" destId="{DBA2015A-18CC-4FD0-8E3A-9EC497D4E1E8}" srcOrd="1" destOrd="0" parTransId="{CD8BDFCA-11B4-4353-A4B6-AB8903DD9674}" sibTransId="{8BEC6255-D942-442C-92A8-7D02FC216D0E}"/>
    <dgm:cxn modelId="{139673F2-4428-4A4B-BE07-494B650C2905}" type="presParOf" srcId="{D10F778C-B8EB-4D0D-88D9-3B987F9AFC69}" destId="{4DD40302-68A3-454C-8200-6C2D69A7AE39}" srcOrd="0" destOrd="0" presId="urn:microsoft.com/office/officeart/2018/2/layout/IconVerticalSolidList"/>
    <dgm:cxn modelId="{76BFB3F5-44E7-4CEF-BB0B-FB1618540879}" type="presParOf" srcId="{4DD40302-68A3-454C-8200-6C2D69A7AE39}" destId="{2461D891-D0A2-4E7E-8CAB-BC21E946FBD3}" srcOrd="0" destOrd="0" presId="urn:microsoft.com/office/officeart/2018/2/layout/IconVerticalSolidList"/>
    <dgm:cxn modelId="{78222295-3118-4DE3-BB7B-B73BC576849E}" type="presParOf" srcId="{4DD40302-68A3-454C-8200-6C2D69A7AE39}" destId="{761EA355-1359-47FF-9F8A-B8AD71453B6A}" srcOrd="1" destOrd="0" presId="urn:microsoft.com/office/officeart/2018/2/layout/IconVerticalSolidList"/>
    <dgm:cxn modelId="{831FF9EB-2C51-4B69-8B76-F1052522428F}" type="presParOf" srcId="{4DD40302-68A3-454C-8200-6C2D69A7AE39}" destId="{FC0A710F-1A6A-44E0-BA95-3E4D48FD2F4A}" srcOrd="2" destOrd="0" presId="urn:microsoft.com/office/officeart/2018/2/layout/IconVerticalSolidList"/>
    <dgm:cxn modelId="{3306616A-6A21-452B-ABB5-95EC72B23EF4}" type="presParOf" srcId="{4DD40302-68A3-454C-8200-6C2D69A7AE39}" destId="{3250F0AF-8212-44B2-B0BA-CC97F27C8A9E}" srcOrd="3" destOrd="0" presId="urn:microsoft.com/office/officeart/2018/2/layout/IconVerticalSolidList"/>
    <dgm:cxn modelId="{85AEF534-2577-42D9-91C3-584867349E4A}" type="presParOf" srcId="{D10F778C-B8EB-4D0D-88D9-3B987F9AFC69}" destId="{F52EAEBC-3D0D-4D08-9B5D-125ECFA20CDA}" srcOrd="1" destOrd="0" presId="urn:microsoft.com/office/officeart/2018/2/layout/IconVerticalSolidList"/>
    <dgm:cxn modelId="{4BB8CE4C-EDDB-490B-B01D-4F58562E61DA}" type="presParOf" srcId="{D10F778C-B8EB-4D0D-88D9-3B987F9AFC69}" destId="{72E1603B-E174-436F-9F73-B23067A0A641}" srcOrd="2" destOrd="0" presId="urn:microsoft.com/office/officeart/2018/2/layout/IconVerticalSolidList"/>
    <dgm:cxn modelId="{DF0EEBBC-CF70-45FD-BDE9-D884B925B340}" type="presParOf" srcId="{72E1603B-E174-436F-9F73-B23067A0A641}" destId="{3077A189-ADCE-4110-BE0B-B7EF62DE8F88}" srcOrd="0" destOrd="0" presId="urn:microsoft.com/office/officeart/2018/2/layout/IconVerticalSolidList"/>
    <dgm:cxn modelId="{B8C13640-14DE-40A9-82D6-7A1C2932246A}" type="presParOf" srcId="{72E1603B-E174-436F-9F73-B23067A0A641}" destId="{BFF2728D-D278-47F6-95F1-253BE285982A}" srcOrd="1" destOrd="0" presId="urn:microsoft.com/office/officeart/2018/2/layout/IconVerticalSolidList"/>
    <dgm:cxn modelId="{C7976EA3-2786-495A-B6DC-86EE7B00F682}" type="presParOf" srcId="{72E1603B-E174-436F-9F73-B23067A0A641}" destId="{32023428-E0F7-41A7-974D-23320E9319D6}" srcOrd="2" destOrd="0" presId="urn:microsoft.com/office/officeart/2018/2/layout/IconVerticalSolidList"/>
    <dgm:cxn modelId="{0816AF21-8CF4-4548-A80D-18BD79E2D4DE}" type="presParOf" srcId="{72E1603B-E174-436F-9F73-B23067A0A641}" destId="{4CB44286-7506-49BD-929E-D31AD34FC7B8}" srcOrd="3" destOrd="0" presId="urn:microsoft.com/office/officeart/2018/2/layout/IconVerticalSolidList"/>
    <dgm:cxn modelId="{003E56C6-04DC-44AF-895E-CD6E9568F539}" type="presParOf" srcId="{D10F778C-B8EB-4D0D-88D9-3B987F9AFC69}" destId="{6B8DBF05-6B67-44AC-9605-5E2AD9BADDA6}" srcOrd="3" destOrd="0" presId="urn:microsoft.com/office/officeart/2018/2/layout/IconVerticalSolidList"/>
    <dgm:cxn modelId="{C24217FF-D48F-4083-97DF-CC817ABA5ACE}" type="presParOf" srcId="{D10F778C-B8EB-4D0D-88D9-3B987F9AFC69}" destId="{ABCDB5C7-79AE-420E-A289-430A2700D04E}" srcOrd="4" destOrd="0" presId="urn:microsoft.com/office/officeart/2018/2/layout/IconVerticalSolidList"/>
    <dgm:cxn modelId="{39F57904-81FF-4AAF-A152-6AC906AE1558}" type="presParOf" srcId="{ABCDB5C7-79AE-420E-A289-430A2700D04E}" destId="{717C76BC-1C4B-4507-B88E-A60A70F282B4}" srcOrd="0" destOrd="0" presId="urn:microsoft.com/office/officeart/2018/2/layout/IconVerticalSolidList"/>
    <dgm:cxn modelId="{5736573E-5CEA-45C0-A976-21F16B9FEA43}" type="presParOf" srcId="{ABCDB5C7-79AE-420E-A289-430A2700D04E}" destId="{A0D029F1-8E8B-4BC2-BBA6-764B49925928}" srcOrd="1" destOrd="0" presId="urn:microsoft.com/office/officeart/2018/2/layout/IconVerticalSolidList"/>
    <dgm:cxn modelId="{539CEA20-6C3F-489C-B9B5-A7DED28A837C}" type="presParOf" srcId="{ABCDB5C7-79AE-420E-A289-430A2700D04E}" destId="{C0E51299-D330-4E95-A0EF-45E4D8F9E16B}" srcOrd="2" destOrd="0" presId="urn:microsoft.com/office/officeart/2018/2/layout/IconVerticalSolidList"/>
    <dgm:cxn modelId="{B49BECFB-4D97-4515-AFDA-E61B9A594C75}" type="presParOf" srcId="{ABCDB5C7-79AE-420E-A289-430A2700D04E}" destId="{4ED57BCB-D77E-4B6F-90A9-CF757BA1C7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2C4721-F42E-4F20-8F45-63946A0C9AF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6C49A4E-1D0A-4E28-AF00-7DCFE52062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Arial"/>
              <a:cs typeface="Arial"/>
            </a:rPr>
            <a:t>The project falls under Data Science, Machine Learning, and Real Estate Market Analysis.</a:t>
          </a:r>
        </a:p>
      </dgm:t>
    </dgm:pt>
    <dgm:pt modelId="{2504B057-4274-4CB8-AF09-F631EBB8AEE5}" type="parTrans" cxnId="{39C3891E-35E7-4BE2-BFCA-06266C51CD7E}">
      <dgm:prSet/>
      <dgm:spPr/>
      <dgm:t>
        <a:bodyPr/>
        <a:lstStyle/>
        <a:p>
          <a:endParaRPr lang="en-US"/>
        </a:p>
      </dgm:t>
    </dgm:pt>
    <dgm:pt modelId="{5E6AC11C-344E-4CC4-B68F-A32F3D0C3D54}" type="sibTrans" cxnId="{39C3891E-35E7-4BE2-BFCA-06266C51CD7E}">
      <dgm:prSet/>
      <dgm:spPr/>
      <dgm:t>
        <a:bodyPr/>
        <a:lstStyle/>
        <a:p>
          <a:endParaRPr lang="en-US"/>
        </a:p>
      </dgm:t>
    </dgm:pt>
    <dgm:pt modelId="{3D59F552-578F-48DE-A208-44ED83C64D54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dirty="0">
              <a:latin typeface="Arial"/>
              <a:cs typeface="Arial"/>
            </a:rPr>
            <a:t>It will integrate web scraping, data analysis, machine learning, and data visualization techniques to predict house prices in Saskatchewan specifically Regina and Saskatoon.</a:t>
          </a:r>
        </a:p>
      </dgm:t>
    </dgm:pt>
    <dgm:pt modelId="{361470C6-90A3-45AD-87E9-A859C2B788FF}" type="parTrans" cxnId="{3D0A441E-CB7A-4A1F-B36A-760488DD0D76}">
      <dgm:prSet/>
      <dgm:spPr/>
      <dgm:t>
        <a:bodyPr/>
        <a:lstStyle/>
        <a:p>
          <a:endParaRPr lang="en-US"/>
        </a:p>
      </dgm:t>
    </dgm:pt>
    <dgm:pt modelId="{3F531605-0D32-4F48-8FA7-DBD798DA98A3}" type="sibTrans" cxnId="{3D0A441E-CB7A-4A1F-B36A-760488DD0D76}">
      <dgm:prSet/>
      <dgm:spPr/>
      <dgm:t>
        <a:bodyPr/>
        <a:lstStyle/>
        <a:p>
          <a:endParaRPr lang="en-US"/>
        </a:p>
      </dgm:t>
    </dgm:pt>
    <dgm:pt modelId="{060D8F09-7A0F-47D6-9189-37AC41838526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latin typeface="Arial"/>
              <a:cs typeface="Arial"/>
            </a:rPr>
            <a:t>Current method does not provide valuable insights into housing trends or help informed  investment decisions.</a:t>
          </a:r>
        </a:p>
      </dgm:t>
    </dgm:pt>
    <dgm:pt modelId="{A9B982DD-BD8A-49D8-BE83-C8E289A3FCE6}" type="parTrans" cxnId="{79C4236A-5D9A-4C72-AC82-A58C1C1C9CCD}">
      <dgm:prSet/>
      <dgm:spPr/>
    </dgm:pt>
    <dgm:pt modelId="{02E8364E-330B-4D57-9042-8E6BF0491E8E}" type="sibTrans" cxnId="{79C4236A-5D9A-4C72-AC82-A58C1C1C9CCD}">
      <dgm:prSet/>
      <dgm:spPr/>
    </dgm:pt>
    <dgm:pt modelId="{CAFE6B2E-6625-4491-AA03-ABB3D7ABEF29}" type="pres">
      <dgm:prSet presAssocID="{C82C4721-F42E-4F20-8F45-63946A0C9AF2}" presName="root" presStyleCnt="0">
        <dgm:presLayoutVars>
          <dgm:dir/>
          <dgm:resizeHandles val="exact"/>
        </dgm:presLayoutVars>
      </dgm:prSet>
      <dgm:spPr/>
    </dgm:pt>
    <dgm:pt modelId="{A1A6C5EC-6457-4E10-9E25-E224E6DBD7F4}" type="pres">
      <dgm:prSet presAssocID="{060D8F09-7A0F-47D6-9189-37AC41838526}" presName="compNode" presStyleCnt="0"/>
      <dgm:spPr/>
    </dgm:pt>
    <dgm:pt modelId="{F8E56E17-55A2-4397-8A5F-21F7D871F99B}" type="pres">
      <dgm:prSet presAssocID="{060D8F09-7A0F-47D6-9189-37AC4183852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574B73F-925C-4A7C-A57F-5BFB7BD80B40}" type="pres">
      <dgm:prSet presAssocID="{060D8F09-7A0F-47D6-9189-37AC418385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306A96A9-F58C-49D3-9894-1E39D48D3B1C}" type="pres">
      <dgm:prSet presAssocID="{060D8F09-7A0F-47D6-9189-37AC41838526}" presName="spaceRect" presStyleCnt="0"/>
      <dgm:spPr/>
    </dgm:pt>
    <dgm:pt modelId="{3FBD5F4A-16AD-4C65-A576-72E0A295794D}" type="pres">
      <dgm:prSet presAssocID="{060D8F09-7A0F-47D6-9189-37AC41838526}" presName="textRect" presStyleLbl="revTx" presStyleIdx="0" presStyleCnt="3">
        <dgm:presLayoutVars>
          <dgm:chMax val="1"/>
          <dgm:chPref val="1"/>
        </dgm:presLayoutVars>
      </dgm:prSet>
      <dgm:spPr/>
    </dgm:pt>
    <dgm:pt modelId="{C932B1BE-4EE4-4E27-96FD-E7D9E7B22DC3}" type="pres">
      <dgm:prSet presAssocID="{02E8364E-330B-4D57-9042-8E6BF0491E8E}" presName="sibTrans" presStyleCnt="0"/>
      <dgm:spPr/>
    </dgm:pt>
    <dgm:pt modelId="{47300C07-D5C9-40EE-818F-5C21A54056B9}" type="pres">
      <dgm:prSet presAssocID="{86C49A4E-1D0A-4E28-AF00-7DCFE520626D}" presName="compNode" presStyleCnt="0"/>
      <dgm:spPr/>
    </dgm:pt>
    <dgm:pt modelId="{9F8575BB-13BF-4B53-B8D3-6625D5FD3A1F}" type="pres">
      <dgm:prSet presAssocID="{86C49A4E-1D0A-4E28-AF00-7DCFE520626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E4F027A-1B30-49FF-8511-3D8EC8BDFDAD}" type="pres">
      <dgm:prSet presAssocID="{86C49A4E-1D0A-4E28-AF00-7DCFE52062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94BDA7D-F139-48B5-A10D-AAA70E27FB2B}" type="pres">
      <dgm:prSet presAssocID="{86C49A4E-1D0A-4E28-AF00-7DCFE520626D}" presName="spaceRect" presStyleCnt="0"/>
      <dgm:spPr/>
    </dgm:pt>
    <dgm:pt modelId="{B90CB551-C959-498F-8B3B-ABBEC654286A}" type="pres">
      <dgm:prSet presAssocID="{86C49A4E-1D0A-4E28-AF00-7DCFE520626D}" presName="textRect" presStyleLbl="revTx" presStyleIdx="1" presStyleCnt="3">
        <dgm:presLayoutVars>
          <dgm:chMax val="1"/>
          <dgm:chPref val="1"/>
        </dgm:presLayoutVars>
      </dgm:prSet>
      <dgm:spPr/>
    </dgm:pt>
    <dgm:pt modelId="{E170DEF4-444E-499A-AA9B-755A56FBEA29}" type="pres">
      <dgm:prSet presAssocID="{5E6AC11C-344E-4CC4-B68F-A32F3D0C3D54}" presName="sibTrans" presStyleCnt="0"/>
      <dgm:spPr/>
    </dgm:pt>
    <dgm:pt modelId="{081285A2-9D7C-4C0F-A14F-FD1E0EBAB072}" type="pres">
      <dgm:prSet presAssocID="{3D59F552-578F-48DE-A208-44ED83C64D54}" presName="compNode" presStyleCnt="0"/>
      <dgm:spPr/>
    </dgm:pt>
    <dgm:pt modelId="{59CEA010-E21F-4FFF-BAB1-F4425A5AE9D1}" type="pres">
      <dgm:prSet presAssocID="{3D59F552-578F-48DE-A208-44ED83C64D5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A3B9593-0A0C-461D-A3C5-A71CF457A6DF}" type="pres">
      <dgm:prSet presAssocID="{3D59F552-578F-48DE-A208-44ED83C64D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ECECC79C-89D5-47F6-9447-B343F1ABB831}" type="pres">
      <dgm:prSet presAssocID="{3D59F552-578F-48DE-A208-44ED83C64D54}" presName="spaceRect" presStyleCnt="0"/>
      <dgm:spPr/>
    </dgm:pt>
    <dgm:pt modelId="{CA33617C-0690-4AD9-ADA1-1895DD3E0C0E}" type="pres">
      <dgm:prSet presAssocID="{3D59F552-578F-48DE-A208-44ED83C64D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D0A441E-CB7A-4A1F-B36A-760488DD0D76}" srcId="{C82C4721-F42E-4F20-8F45-63946A0C9AF2}" destId="{3D59F552-578F-48DE-A208-44ED83C64D54}" srcOrd="2" destOrd="0" parTransId="{361470C6-90A3-45AD-87E9-A859C2B788FF}" sibTransId="{3F531605-0D32-4F48-8FA7-DBD798DA98A3}"/>
    <dgm:cxn modelId="{39C3891E-35E7-4BE2-BFCA-06266C51CD7E}" srcId="{C82C4721-F42E-4F20-8F45-63946A0C9AF2}" destId="{86C49A4E-1D0A-4E28-AF00-7DCFE520626D}" srcOrd="1" destOrd="0" parTransId="{2504B057-4274-4CB8-AF09-F631EBB8AEE5}" sibTransId="{5E6AC11C-344E-4CC4-B68F-A32F3D0C3D54}"/>
    <dgm:cxn modelId="{79C4236A-5D9A-4C72-AC82-A58C1C1C9CCD}" srcId="{C82C4721-F42E-4F20-8F45-63946A0C9AF2}" destId="{060D8F09-7A0F-47D6-9189-37AC41838526}" srcOrd="0" destOrd="0" parTransId="{A9B982DD-BD8A-49D8-BE83-C8E289A3FCE6}" sibTransId="{02E8364E-330B-4D57-9042-8E6BF0491E8E}"/>
    <dgm:cxn modelId="{F7961873-1399-423E-A28E-516E5E76C180}" type="presOf" srcId="{3D59F552-578F-48DE-A208-44ED83C64D54}" destId="{CA33617C-0690-4AD9-ADA1-1895DD3E0C0E}" srcOrd="0" destOrd="0" presId="urn:microsoft.com/office/officeart/2018/5/layout/IconLeafLabelList"/>
    <dgm:cxn modelId="{278DED95-EBFE-44F8-B474-8E1FCD017764}" type="presOf" srcId="{060D8F09-7A0F-47D6-9189-37AC41838526}" destId="{3FBD5F4A-16AD-4C65-A576-72E0A295794D}" srcOrd="0" destOrd="0" presId="urn:microsoft.com/office/officeart/2018/5/layout/IconLeafLabelList"/>
    <dgm:cxn modelId="{0490C9BA-27F7-4B04-B0CA-8F19613F1E9C}" type="presOf" srcId="{C82C4721-F42E-4F20-8F45-63946A0C9AF2}" destId="{CAFE6B2E-6625-4491-AA03-ABB3D7ABEF29}" srcOrd="0" destOrd="0" presId="urn:microsoft.com/office/officeart/2018/5/layout/IconLeafLabelList"/>
    <dgm:cxn modelId="{DFD3EFE5-C8FD-4983-8DD6-7BAC6B7E02F6}" type="presOf" srcId="{86C49A4E-1D0A-4E28-AF00-7DCFE520626D}" destId="{B90CB551-C959-498F-8B3B-ABBEC654286A}" srcOrd="0" destOrd="0" presId="urn:microsoft.com/office/officeart/2018/5/layout/IconLeafLabelList"/>
    <dgm:cxn modelId="{41791DA3-3B52-4DED-9922-A0A6F53C9AE5}" type="presParOf" srcId="{CAFE6B2E-6625-4491-AA03-ABB3D7ABEF29}" destId="{A1A6C5EC-6457-4E10-9E25-E224E6DBD7F4}" srcOrd="0" destOrd="0" presId="urn:microsoft.com/office/officeart/2018/5/layout/IconLeafLabelList"/>
    <dgm:cxn modelId="{49ED5D82-D746-4800-908C-DB46E03529E9}" type="presParOf" srcId="{A1A6C5EC-6457-4E10-9E25-E224E6DBD7F4}" destId="{F8E56E17-55A2-4397-8A5F-21F7D871F99B}" srcOrd="0" destOrd="0" presId="urn:microsoft.com/office/officeart/2018/5/layout/IconLeafLabelList"/>
    <dgm:cxn modelId="{3BBC3B98-7A2C-4087-9531-CC90C7811116}" type="presParOf" srcId="{A1A6C5EC-6457-4E10-9E25-E224E6DBD7F4}" destId="{3574B73F-925C-4A7C-A57F-5BFB7BD80B40}" srcOrd="1" destOrd="0" presId="urn:microsoft.com/office/officeart/2018/5/layout/IconLeafLabelList"/>
    <dgm:cxn modelId="{92DD5D6F-BA35-4A2A-92AC-F9695E867D7C}" type="presParOf" srcId="{A1A6C5EC-6457-4E10-9E25-E224E6DBD7F4}" destId="{306A96A9-F58C-49D3-9894-1E39D48D3B1C}" srcOrd="2" destOrd="0" presId="urn:microsoft.com/office/officeart/2018/5/layout/IconLeafLabelList"/>
    <dgm:cxn modelId="{F3CE03EF-DED0-4FEB-A3CA-AA6F2F665ABA}" type="presParOf" srcId="{A1A6C5EC-6457-4E10-9E25-E224E6DBD7F4}" destId="{3FBD5F4A-16AD-4C65-A576-72E0A295794D}" srcOrd="3" destOrd="0" presId="urn:microsoft.com/office/officeart/2018/5/layout/IconLeafLabelList"/>
    <dgm:cxn modelId="{AA19B79B-7FFC-461B-A429-E994DFA2E9F3}" type="presParOf" srcId="{CAFE6B2E-6625-4491-AA03-ABB3D7ABEF29}" destId="{C932B1BE-4EE4-4E27-96FD-E7D9E7B22DC3}" srcOrd="1" destOrd="0" presId="urn:microsoft.com/office/officeart/2018/5/layout/IconLeafLabelList"/>
    <dgm:cxn modelId="{C200D1B2-4F66-4AB5-9069-34F2F186E998}" type="presParOf" srcId="{CAFE6B2E-6625-4491-AA03-ABB3D7ABEF29}" destId="{47300C07-D5C9-40EE-818F-5C21A54056B9}" srcOrd="2" destOrd="0" presId="urn:microsoft.com/office/officeart/2018/5/layout/IconLeafLabelList"/>
    <dgm:cxn modelId="{C3093491-906A-4A4A-8044-CA126838E8DE}" type="presParOf" srcId="{47300C07-D5C9-40EE-818F-5C21A54056B9}" destId="{9F8575BB-13BF-4B53-B8D3-6625D5FD3A1F}" srcOrd="0" destOrd="0" presId="urn:microsoft.com/office/officeart/2018/5/layout/IconLeafLabelList"/>
    <dgm:cxn modelId="{324A1C9F-B6ED-4450-A284-EC2BC971D45E}" type="presParOf" srcId="{47300C07-D5C9-40EE-818F-5C21A54056B9}" destId="{EE4F027A-1B30-49FF-8511-3D8EC8BDFDAD}" srcOrd="1" destOrd="0" presId="urn:microsoft.com/office/officeart/2018/5/layout/IconLeafLabelList"/>
    <dgm:cxn modelId="{C39C1F65-36D0-4CAB-BFA9-45C7DF94EB0A}" type="presParOf" srcId="{47300C07-D5C9-40EE-818F-5C21A54056B9}" destId="{894BDA7D-F139-48B5-A10D-AAA70E27FB2B}" srcOrd="2" destOrd="0" presId="urn:microsoft.com/office/officeart/2018/5/layout/IconLeafLabelList"/>
    <dgm:cxn modelId="{5903304A-B0CB-44A5-9403-4D1141EBB8DB}" type="presParOf" srcId="{47300C07-D5C9-40EE-818F-5C21A54056B9}" destId="{B90CB551-C959-498F-8B3B-ABBEC654286A}" srcOrd="3" destOrd="0" presId="urn:microsoft.com/office/officeart/2018/5/layout/IconLeafLabelList"/>
    <dgm:cxn modelId="{79424368-2F7B-47F2-9DBD-2FC8CBBA9DBD}" type="presParOf" srcId="{CAFE6B2E-6625-4491-AA03-ABB3D7ABEF29}" destId="{E170DEF4-444E-499A-AA9B-755A56FBEA29}" srcOrd="3" destOrd="0" presId="urn:microsoft.com/office/officeart/2018/5/layout/IconLeafLabelList"/>
    <dgm:cxn modelId="{06D1D437-5E28-495F-AB54-6C2C517D82EE}" type="presParOf" srcId="{CAFE6B2E-6625-4491-AA03-ABB3D7ABEF29}" destId="{081285A2-9D7C-4C0F-A14F-FD1E0EBAB072}" srcOrd="4" destOrd="0" presId="urn:microsoft.com/office/officeart/2018/5/layout/IconLeafLabelList"/>
    <dgm:cxn modelId="{FA986A5E-B664-40DF-B123-F2C1B703FD5F}" type="presParOf" srcId="{081285A2-9D7C-4C0F-A14F-FD1E0EBAB072}" destId="{59CEA010-E21F-4FFF-BAB1-F4425A5AE9D1}" srcOrd="0" destOrd="0" presId="urn:microsoft.com/office/officeart/2018/5/layout/IconLeafLabelList"/>
    <dgm:cxn modelId="{19AEFDBD-F3B1-49D9-949E-BA0D66FF1A4E}" type="presParOf" srcId="{081285A2-9D7C-4C0F-A14F-FD1E0EBAB072}" destId="{BA3B9593-0A0C-461D-A3C5-A71CF457A6DF}" srcOrd="1" destOrd="0" presId="urn:microsoft.com/office/officeart/2018/5/layout/IconLeafLabelList"/>
    <dgm:cxn modelId="{F10BB595-20F5-47CF-A450-09F707003EBB}" type="presParOf" srcId="{081285A2-9D7C-4C0F-A14F-FD1E0EBAB072}" destId="{ECECC79C-89D5-47F6-9447-B343F1ABB831}" srcOrd="2" destOrd="0" presId="urn:microsoft.com/office/officeart/2018/5/layout/IconLeafLabelList"/>
    <dgm:cxn modelId="{064E1C4F-2416-45BF-84B8-78E40FD403C6}" type="presParOf" srcId="{081285A2-9D7C-4C0F-A14F-FD1E0EBAB072}" destId="{CA33617C-0690-4AD9-ADA1-1895DD3E0C0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AA9389-433D-4E87-BC96-1CC5F011F584}" type="doc">
      <dgm:prSet loTypeId="urn:microsoft.com/office/officeart/2005/8/layout/hList1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30B44A44-C72E-48A3-8E67-81D542BFED0A}">
      <dgm:prSet phldrT="[Text]" phldr="0"/>
      <dgm:spPr/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Arial"/>
              <a:cs typeface="Arial"/>
            </a:rPr>
            <a:t>Data Privacy and Availability</a:t>
          </a:r>
          <a:endParaRPr lang="en-US" dirty="0">
            <a:solidFill>
              <a:schemeClr val="tx1"/>
            </a:solidFill>
            <a:latin typeface="Arial"/>
            <a:cs typeface="Arial"/>
          </a:endParaRPr>
        </a:p>
      </dgm:t>
    </dgm:pt>
    <dgm:pt modelId="{B6DD7F57-B86F-424A-95A6-61D6CEB93B25}" type="parTrans" cxnId="{7998C999-2928-48EB-9831-B5042441A839}">
      <dgm:prSet/>
      <dgm:spPr/>
      <dgm:t>
        <a:bodyPr/>
        <a:lstStyle/>
        <a:p>
          <a:endParaRPr lang="en-US"/>
        </a:p>
      </dgm:t>
    </dgm:pt>
    <dgm:pt modelId="{EBBF38A0-349C-4CE0-822C-539D18CFD4B8}" type="sibTrans" cxnId="{7998C999-2928-48EB-9831-B5042441A839}">
      <dgm:prSet/>
      <dgm:spPr/>
      <dgm:t>
        <a:bodyPr/>
        <a:lstStyle/>
        <a:p>
          <a:endParaRPr lang="en-US"/>
        </a:p>
      </dgm:t>
    </dgm:pt>
    <dgm:pt modelId="{55FF47CF-C50D-45E7-AD7A-1EFA6E91A7AE}">
      <dgm:prSet phldrT="[Text]"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Some websites does not allow data scraping due to data privacy.</a:t>
          </a:r>
        </a:p>
      </dgm:t>
    </dgm:pt>
    <dgm:pt modelId="{0F39C7CA-C036-42A3-A9C0-85CE938AFBE5}" type="parTrans" cxnId="{172D7DC9-3AED-456D-836D-3017500997F1}">
      <dgm:prSet/>
      <dgm:spPr/>
      <dgm:t>
        <a:bodyPr/>
        <a:lstStyle/>
        <a:p>
          <a:endParaRPr lang="en-US"/>
        </a:p>
      </dgm:t>
    </dgm:pt>
    <dgm:pt modelId="{7FDCA381-AC7F-491B-8FF8-74825A919F5A}" type="sibTrans" cxnId="{172D7DC9-3AED-456D-836D-3017500997F1}">
      <dgm:prSet/>
      <dgm:spPr/>
      <dgm:t>
        <a:bodyPr/>
        <a:lstStyle/>
        <a:p>
          <a:endParaRPr lang="en-US"/>
        </a:p>
      </dgm:t>
    </dgm:pt>
    <dgm:pt modelId="{3F29DDBC-151B-4D25-A72C-DBFE4027BAE4}">
      <dgm:prSet phldrT="[Text]" phldr="0"/>
      <dgm:spPr/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Arial"/>
              <a:cs typeface="Arial"/>
            </a:rPr>
            <a:t>Measurement and Reporting Inconsistencies</a:t>
          </a:r>
          <a:endParaRPr lang="en-US" dirty="0">
            <a:solidFill>
              <a:schemeClr val="tx1"/>
            </a:solidFill>
            <a:latin typeface="Arial"/>
            <a:cs typeface="Arial"/>
          </a:endParaRPr>
        </a:p>
      </dgm:t>
    </dgm:pt>
    <dgm:pt modelId="{2617293E-2179-49A5-A6ED-6738057C2D37}" type="parTrans" cxnId="{F904F197-FF0A-4FBE-9478-CD051E09F5DA}">
      <dgm:prSet/>
      <dgm:spPr/>
      <dgm:t>
        <a:bodyPr/>
        <a:lstStyle/>
        <a:p>
          <a:endParaRPr lang="en-US"/>
        </a:p>
      </dgm:t>
    </dgm:pt>
    <dgm:pt modelId="{9A306614-FBB7-47CD-896B-A946BD93E6A2}" type="sibTrans" cxnId="{F904F197-FF0A-4FBE-9478-CD051E09F5DA}">
      <dgm:prSet/>
      <dgm:spPr/>
      <dgm:t>
        <a:bodyPr/>
        <a:lstStyle/>
        <a:p>
          <a:endParaRPr lang="en-US"/>
        </a:p>
      </dgm:t>
    </dgm:pt>
    <dgm:pt modelId="{360E792F-6C77-432F-9A9D-BC140A8B9002}">
      <dgm:prSet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Eight attributes were only considered for the model namely bathrooms, bedrooms, </a:t>
          </a:r>
          <a:r>
            <a:rPr lang="en-US" dirty="0" err="1">
              <a:latin typeface="Arial"/>
              <a:cs typeface="Arial"/>
            </a:rPr>
            <a:t>built_year</a:t>
          </a:r>
          <a:r>
            <a:rPr lang="en-US" dirty="0">
              <a:latin typeface="Arial"/>
              <a:cs typeface="Arial"/>
            </a:rPr>
            <a:t>, </a:t>
          </a:r>
          <a:r>
            <a:rPr lang="en-US" dirty="0" err="1">
              <a:latin typeface="Arial"/>
              <a:cs typeface="Arial"/>
            </a:rPr>
            <a:t>garage_space</a:t>
          </a:r>
          <a:r>
            <a:rPr lang="en-US" dirty="0">
              <a:latin typeface="Arial"/>
              <a:cs typeface="Arial"/>
            </a:rPr>
            <a:t>, kitchens, </a:t>
          </a:r>
          <a:r>
            <a:rPr lang="en-US" dirty="0" err="1">
              <a:latin typeface="Arial"/>
              <a:cs typeface="Arial"/>
            </a:rPr>
            <a:t>sqft</a:t>
          </a:r>
          <a:r>
            <a:rPr lang="en-US" dirty="0">
              <a:latin typeface="Arial"/>
              <a:cs typeface="Arial"/>
            </a:rPr>
            <a:t>, </a:t>
          </a:r>
          <a:r>
            <a:rPr lang="en-US" dirty="0" err="1">
              <a:latin typeface="Arial"/>
              <a:cs typeface="Arial"/>
            </a:rPr>
            <a:t>property_type</a:t>
          </a:r>
          <a:r>
            <a:rPr lang="en-US" dirty="0">
              <a:latin typeface="Arial"/>
              <a:cs typeface="Arial"/>
            </a:rPr>
            <a:t> and city.</a:t>
          </a:r>
        </a:p>
      </dgm:t>
    </dgm:pt>
    <dgm:pt modelId="{615C6440-0C03-4F8C-94BC-AF75EE37062F}" type="parTrans" cxnId="{89A000E9-6CA6-4A90-AAC2-7440A96BD004}">
      <dgm:prSet/>
      <dgm:spPr/>
    </dgm:pt>
    <dgm:pt modelId="{A6267EA4-8674-403B-9E64-D1C528939DB1}" type="sibTrans" cxnId="{89A000E9-6CA6-4A90-AAC2-7440A96BD004}">
      <dgm:prSet/>
      <dgm:spPr/>
    </dgm:pt>
    <dgm:pt modelId="{0304526B-9B81-4027-918B-574FE5D15E5A}">
      <dgm:prSet phldrT="[Text]" phldr="0"/>
      <dgm:spPr/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Arial"/>
              <a:cs typeface="Arial"/>
            </a:rPr>
            <a:t>Geographical and </a:t>
          </a:r>
          <a:r>
            <a:rPr lang="en-US" b="1" dirty="0">
              <a:solidFill>
                <a:schemeClr val="tx1"/>
              </a:solidFill>
              <a:latin typeface="Arial"/>
              <a:ea typeface="Calibri"/>
              <a:cs typeface="Calibri"/>
            </a:rPr>
            <a:t>Cultural Specific</a:t>
          </a:r>
          <a:endParaRPr lang="en-US" b="1" dirty="0">
            <a:solidFill>
              <a:schemeClr val="tx1"/>
            </a:solidFill>
            <a:latin typeface="Arial"/>
            <a:cs typeface="Arial"/>
          </a:endParaRPr>
        </a:p>
      </dgm:t>
    </dgm:pt>
    <dgm:pt modelId="{B4D132AB-DA0B-4386-A6C5-0884EAE0464A}" type="parTrans" cxnId="{A51D101F-DE35-42A1-B336-41AC30CE91BA}">
      <dgm:prSet/>
      <dgm:spPr/>
      <dgm:t>
        <a:bodyPr/>
        <a:lstStyle/>
        <a:p>
          <a:endParaRPr lang="en-US"/>
        </a:p>
      </dgm:t>
    </dgm:pt>
    <dgm:pt modelId="{9D2597BC-6D81-45B6-92C2-B67A20CD0096}" type="sibTrans" cxnId="{A51D101F-DE35-42A1-B336-41AC30CE91BA}">
      <dgm:prSet/>
      <dgm:spPr/>
      <dgm:t>
        <a:bodyPr/>
        <a:lstStyle/>
        <a:p>
          <a:endParaRPr lang="en-US"/>
        </a:p>
      </dgm:t>
    </dgm:pt>
    <dgm:pt modelId="{9ACA165D-1BC6-4A97-B74B-80A3D8862982}">
      <dgm:prSet phldr="0"/>
      <dgm:spPr/>
      <dgm:t>
        <a:bodyPr/>
        <a:lstStyle/>
        <a:p>
          <a:r>
            <a:rPr lang="en-US" dirty="0">
              <a:latin typeface="Arial"/>
              <a:cs typeface="Arial"/>
            </a:rPr>
            <a:t>Cities have varying amount of housing data availability. For a better and equal comparison Regina and Saskatoon data were considered.</a:t>
          </a:r>
        </a:p>
      </dgm:t>
    </dgm:pt>
    <dgm:pt modelId="{9A2173D2-27D3-4DF4-8019-61F2F87CD9A1}" type="parTrans" cxnId="{0C9A0612-8C8F-4A54-AE15-0EEFDACF2C5B}">
      <dgm:prSet/>
      <dgm:spPr/>
    </dgm:pt>
    <dgm:pt modelId="{9185A0EC-596F-4AC5-B0AD-F186C3CF5B17}" type="sibTrans" cxnId="{0C9A0612-8C8F-4A54-AE15-0EEFDACF2C5B}">
      <dgm:prSet/>
      <dgm:spPr/>
    </dgm:pt>
    <dgm:pt modelId="{DD8F19D7-7B7C-4013-BBFD-1AB5E5DACAC1}" type="pres">
      <dgm:prSet presAssocID="{89AA9389-433D-4E87-BC96-1CC5F011F584}" presName="Name0" presStyleCnt="0">
        <dgm:presLayoutVars>
          <dgm:dir/>
          <dgm:animLvl val="lvl"/>
          <dgm:resizeHandles val="exact"/>
        </dgm:presLayoutVars>
      </dgm:prSet>
      <dgm:spPr/>
    </dgm:pt>
    <dgm:pt modelId="{03918A35-8819-40E0-A3A5-8749EC582405}" type="pres">
      <dgm:prSet presAssocID="{30B44A44-C72E-48A3-8E67-81D542BFED0A}" presName="composite" presStyleCnt="0"/>
      <dgm:spPr/>
    </dgm:pt>
    <dgm:pt modelId="{F6A6E00E-D10F-47C1-9106-9B667955774B}" type="pres">
      <dgm:prSet presAssocID="{30B44A44-C72E-48A3-8E67-81D542BFED0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DF62AFE-6C6E-4C0D-9C84-B88447701832}" type="pres">
      <dgm:prSet presAssocID="{30B44A44-C72E-48A3-8E67-81D542BFED0A}" presName="desTx" presStyleLbl="alignAccFollowNode1" presStyleIdx="0" presStyleCnt="3">
        <dgm:presLayoutVars>
          <dgm:bulletEnabled val="1"/>
        </dgm:presLayoutVars>
      </dgm:prSet>
      <dgm:spPr/>
    </dgm:pt>
    <dgm:pt modelId="{CEB29194-07C7-4773-A205-64951BB1F07A}" type="pres">
      <dgm:prSet presAssocID="{EBBF38A0-349C-4CE0-822C-539D18CFD4B8}" presName="space" presStyleCnt="0"/>
      <dgm:spPr/>
    </dgm:pt>
    <dgm:pt modelId="{1F8DEF8A-0F7D-423B-BA29-4C3AB1C8AC4B}" type="pres">
      <dgm:prSet presAssocID="{0304526B-9B81-4027-918B-574FE5D15E5A}" presName="composite" presStyleCnt="0"/>
      <dgm:spPr/>
    </dgm:pt>
    <dgm:pt modelId="{EE98F2CC-9A2A-443E-9B70-7944C430BBD0}" type="pres">
      <dgm:prSet presAssocID="{0304526B-9B81-4027-918B-574FE5D15E5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67BA278-FE7A-45D0-A89C-E179AAC3D713}" type="pres">
      <dgm:prSet presAssocID="{0304526B-9B81-4027-918B-574FE5D15E5A}" presName="desTx" presStyleLbl="alignAccFollowNode1" presStyleIdx="1" presStyleCnt="3">
        <dgm:presLayoutVars>
          <dgm:bulletEnabled val="1"/>
        </dgm:presLayoutVars>
      </dgm:prSet>
      <dgm:spPr/>
    </dgm:pt>
    <dgm:pt modelId="{0C8FF5D7-D2B6-406C-BDD0-FDCE363A346C}" type="pres">
      <dgm:prSet presAssocID="{9D2597BC-6D81-45B6-92C2-B67A20CD0096}" presName="space" presStyleCnt="0"/>
      <dgm:spPr/>
    </dgm:pt>
    <dgm:pt modelId="{3C4FA212-E8A6-4D1B-8BD9-503F38365CF0}" type="pres">
      <dgm:prSet presAssocID="{3F29DDBC-151B-4D25-A72C-DBFE4027BAE4}" presName="composite" presStyleCnt="0"/>
      <dgm:spPr/>
    </dgm:pt>
    <dgm:pt modelId="{D726756E-96D0-4A97-A421-24C2B5271BB9}" type="pres">
      <dgm:prSet presAssocID="{3F29DDBC-151B-4D25-A72C-DBFE4027BAE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A098DDF-DADC-4767-ABF4-10842CF7FE53}" type="pres">
      <dgm:prSet presAssocID="{3F29DDBC-151B-4D25-A72C-DBFE4027BAE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1897D01-3436-4F7E-9D1D-C852608B9AF8}" type="presOf" srcId="{360E792F-6C77-432F-9A9D-BC140A8B9002}" destId="{6A098DDF-DADC-4767-ABF4-10842CF7FE53}" srcOrd="0" destOrd="0" presId="urn:microsoft.com/office/officeart/2005/8/layout/hList1"/>
    <dgm:cxn modelId="{E1AAC204-9FBD-42D2-96F6-35E9E10F41C6}" type="presOf" srcId="{3F29DDBC-151B-4D25-A72C-DBFE4027BAE4}" destId="{D726756E-96D0-4A97-A421-24C2B5271BB9}" srcOrd="0" destOrd="0" presId="urn:microsoft.com/office/officeart/2005/8/layout/hList1"/>
    <dgm:cxn modelId="{0C9A0612-8C8F-4A54-AE15-0EEFDACF2C5B}" srcId="{0304526B-9B81-4027-918B-574FE5D15E5A}" destId="{9ACA165D-1BC6-4A97-B74B-80A3D8862982}" srcOrd="0" destOrd="0" parTransId="{9A2173D2-27D3-4DF4-8019-61F2F87CD9A1}" sibTransId="{9185A0EC-596F-4AC5-B0AD-F186C3CF5B17}"/>
    <dgm:cxn modelId="{A51D101F-DE35-42A1-B336-41AC30CE91BA}" srcId="{89AA9389-433D-4E87-BC96-1CC5F011F584}" destId="{0304526B-9B81-4027-918B-574FE5D15E5A}" srcOrd="1" destOrd="0" parTransId="{B4D132AB-DA0B-4386-A6C5-0884EAE0464A}" sibTransId="{9D2597BC-6D81-45B6-92C2-B67A20CD0096}"/>
    <dgm:cxn modelId="{5C018E52-639C-4A16-852E-E268A51A84EC}" type="presOf" srcId="{0304526B-9B81-4027-918B-574FE5D15E5A}" destId="{EE98F2CC-9A2A-443E-9B70-7944C430BBD0}" srcOrd="0" destOrd="0" presId="urn:microsoft.com/office/officeart/2005/8/layout/hList1"/>
    <dgm:cxn modelId="{62F22573-9CDD-45D5-B20E-99B0CE71FD1C}" type="presOf" srcId="{9ACA165D-1BC6-4A97-B74B-80A3D8862982}" destId="{867BA278-FE7A-45D0-A89C-E179AAC3D713}" srcOrd="0" destOrd="0" presId="urn:microsoft.com/office/officeart/2005/8/layout/hList1"/>
    <dgm:cxn modelId="{F904F197-FF0A-4FBE-9478-CD051E09F5DA}" srcId="{89AA9389-433D-4E87-BC96-1CC5F011F584}" destId="{3F29DDBC-151B-4D25-A72C-DBFE4027BAE4}" srcOrd="2" destOrd="0" parTransId="{2617293E-2179-49A5-A6ED-6738057C2D37}" sibTransId="{9A306614-FBB7-47CD-896B-A946BD93E6A2}"/>
    <dgm:cxn modelId="{7998C999-2928-48EB-9831-B5042441A839}" srcId="{89AA9389-433D-4E87-BC96-1CC5F011F584}" destId="{30B44A44-C72E-48A3-8E67-81D542BFED0A}" srcOrd="0" destOrd="0" parTransId="{B6DD7F57-B86F-424A-95A6-61D6CEB93B25}" sibTransId="{EBBF38A0-349C-4CE0-822C-539D18CFD4B8}"/>
    <dgm:cxn modelId="{8B1EFEAA-3230-4264-88ED-BE4A9B02C8D2}" type="presOf" srcId="{89AA9389-433D-4E87-BC96-1CC5F011F584}" destId="{DD8F19D7-7B7C-4013-BBFD-1AB5E5DACAC1}" srcOrd="0" destOrd="0" presId="urn:microsoft.com/office/officeart/2005/8/layout/hList1"/>
    <dgm:cxn modelId="{E4CD36C3-7F4E-4FBF-8346-815989BA2982}" type="presOf" srcId="{30B44A44-C72E-48A3-8E67-81D542BFED0A}" destId="{F6A6E00E-D10F-47C1-9106-9B667955774B}" srcOrd="0" destOrd="0" presId="urn:microsoft.com/office/officeart/2005/8/layout/hList1"/>
    <dgm:cxn modelId="{172D7DC9-3AED-456D-836D-3017500997F1}" srcId="{30B44A44-C72E-48A3-8E67-81D542BFED0A}" destId="{55FF47CF-C50D-45E7-AD7A-1EFA6E91A7AE}" srcOrd="0" destOrd="0" parTransId="{0F39C7CA-C036-42A3-A9C0-85CE938AFBE5}" sibTransId="{7FDCA381-AC7F-491B-8FF8-74825A919F5A}"/>
    <dgm:cxn modelId="{D4DA41CC-C09E-4AED-B241-4B1A1E3FF7B9}" type="presOf" srcId="{55FF47CF-C50D-45E7-AD7A-1EFA6E91A7AE}" destId="{4DF62AFE-6C6E-4C0D-9C84-B88447701832}" srcOrd="0" destOrd="0" presId="urn:microsoft.com/office/officeart/2005/8/layout/hList1"/>
    <dgm:cxn modelId="{89A000E9-6CA6-4A90-AAC2-7440A96BD004}" srcId="{3F29DDBC-151B-4D25-A72C-DBFE4027BAE4}" destId="{360E792F-6C77-432F-9A9D-BC140A8B9002}" srcOrd="0" destOrd="0" parTransId="{615C6440-0C03-4F8C-94BC-AF75EE37062F}" sibTransId="{A6267EA4-8674-403B-9E64-D1C528939DB1}"/>
    <dgm:cxn modelId="{1F4E0A0E-1561-48A0-A25B-D5BC4D583FF4}" type="presParOf" srcId="{DD8F19D7-7B7C-4013-BBFD-1AB5E5DACAC1}" destId="{03918A35-8819-40E0-A3A5-8749EC582405}" srcOrd="0" destOrd="0" presId="urn:microsoft.com/office/officeart/2005/8/layout/hList1"/>
    <dgm:cxn modelId="{6CD24F39-4D11-4F8D-964D-26699D56934F}" type="presParOf" srcId="{03918A35-8819-40E0-A3A5-8749EC582405}" destId="{F6A6E00E-D10F-47C1-9106-9B667955774B}" srcOrd="0" destOrd="0" presId="urn:microsoft.com/office/officeart/2005/8/layout/hList1"/>
    <dgm:cxn modelId="{26B78C2A-1FD6-4657-A903-14773A30BCCB}" type="presParOf" srcId="{03918A35-8819-40E0-A3A5-8749EC582405}" destId="{4DF62AFE-6C6E-4C0D-9C84-B88447701832}" srcOrd="1" destOrd="0" presId="urn:microsoft.com/office/officeart/2005/8/layout/hList1"/>
    <dgm:cxn modelId="{70D0434C-BD24-466A-B1B8-3D8C2B38D3AE}" type="presParOf" srcId="{DD8F19D7-7B7C-4013-BBFD-1AB5E5DACAC1}" destId="{CEB29194-07C7-4773-A205-64951BB1F07A}" srcOrd="1" destOrd="0" presId="urn:microsoft.com/office/officeart/2005/8/layout/hList1"/>
    <dgm:cxn modelId="{7F7AA1D9-20FD-4BA7-BEA2-F8C15D4D2888}" type="presParOf" srcId="{DD8F19D7-7B7C-4013-BBFD-1AB5E5DACAC1}" destId="{1F8DEF8A-0F7D-423B-BA29-4C3AB1C8AC4B}" srcOrd="2" destOrd="0" presId="urn:microsoft.com/office/officeart/2005/8/layout/hList1"/>
    <dgm:cxn modelId="{2735FE78-CCB0-44DD-989D-9FEEF1E50723}" type="presParOf" srcId="{1F8DEF8A-0F7D-423B-BA29-4C3AB1C8AC4B}" destId="{EE98F2CC-9A2A-443E-9B70-7944C430BBD0}" srcOrd="0" destOrd="0" presId="urn:microsoft.com/office/officeart/2005/8/layout/hList1"/>
    <dgm:cxn modelId="{45D448FC-51BA-4EFD-B1A8-D9E58680D54F}" type="presParOf" srcId="{1F8DEF8A-0F7D-423B-BA29-4C3AB1C8AC4B}" destId="{867BA278-FE7A-45D0-A89C-E179AAC3D713}" srcOrd="1" destOrd="0" presId="urn:microsoft.com/office/officeart/2005/8/layout/hList1"/>
    <dgm:cxn modelId="{5ED2FC41-EE29-401E-B801-5919526052DB}" type="presParOf" srcId="{DD8F19D7-7B7C-4013-BBFD-1AB5E5DACAC1}" destId="{0C8FF5D7-D2B6-406C-BDD0-FDCE363A346C}" srcOrd="3" destOrd="0" presId="urn:microsoft.com/office/officeart/2005/8/layout/hList1"/>
    <dgm:cxn modelId="{6F9E17B6-41E1-4438-B999-B52DA4099801}" type="presParOf" srcId="{DD8F19D7-7B7C-4013-BBFD-1AB5E5DACAC1}" destId="{3C4FA212-E8A6-4D1B-8BD9-503F38365CF0}" srcOrd="4" destOrd="0" presId="urn:microsoft.com/office/officeart/2005/8/layout/hList1"/>
    <dgm:cxn modelId="{5AF9BAFD-513D-4320-ABE4-5EE7F68F7349}" type="presParOf" srcId="{3C4FA212-E8A6-4D1B-8BD9-503F38365CF0}" destId="{D726756E-96D0-4A97-A421-24C2B5271BB9}" srcOrd="0" destOrd="0" presId="urn:microsoft.com/office/officeart/2005/8/layout/hList1"/>
    <dgm:cxn modelId="{3B4E2B2B-4865-4583-9C2C-AE39F28C7C65}" type="presParOf" srcId="{3C4FA212-E8A6-4D1B-8BD9-503F38365CF0}" destId="{6A098DDF-DADC-4767-ABF4-10842CF7FE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AA9389-433D-4E87-BC96-1CC5F011F584}" type="doc">
      <dgm:prSet loTypeId="urn:microsoft.com/office/officeart/2016/7/layout/ChevronBlockProcess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0B44A44-C72E-48A3-8E67-81D542BFED0A}">
      <dgm:prSet phldrT="[Text]" phldr="0"/>
      <dgm:spPr/>
      <dgm:t>
        <a:bodyPr/>
        <a:lstStyle/>
        <a:p>
          <a:pPr rtl="0"/>
          <a:r>
            <a:rPr lang="en-US" b="1" dirty="0">
              <a:solidFill>
                <a:schemeClr val="tx1"/>
              </a:solidFill>
              <a:latin typeface="Arial"/>
              <a:cs typeface="Arial"/>
            </a:rPr>
            <a:t>Data Privacy and Availability</a:t>
          </a:r>
          <a:endParaRPr lang="en-US" dirty="0">
            <a:solidFill>
              <a:schemeClr val="tx1"/>
            </a:solidFill>
            <a:latin typeface="Arial"/>
            <a:cs typeface="Arial"/>
          </a:endParaRPr>
        </a:p>
      </dgm:t>
    </dgm:pt>
    <dgm:pt modelId="{B6DD7F57-B86F-424A-95A6-61D6CEB93B25}" type="parTrans" cxnId="{7998C999-2928-48EB-9831-B5042441A839}">
      <dgm:prSet/>
      <dgm:spPr/>
      <dgm:t>
        <a:bodyPr/>
        <a:lstStyle/>
        <a:p>
          <a:endParaRPr lang="en-US"/>
        </a:p>
      </dgm:t>
    </dgm:pt>
    <dgm:pt modelId="{EBBF38A0-349C-4CE0-822C-539D18CFD4B8}" type="sibTrans" cxnId="{7998C999-2928-48EB-9831-B5042441A839}">
      <dgm:prSet/>
      <dgm:spPr/>
      <dgm:t>
        <a:bodyPr/>
        <a:lstStyle/>
        <a:p>
          <a:endParaRPr lang="en-US"/>
        </a:p>
      </dgm:t>
    </dgm:pt>
    <dgm:pt modelId="{55FF47CF-C50D-45E7-AD7A-1EFA6E91A7AE}">
      <dgm:prSet phldrT="[Text]"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Some site data require permissions for data extraction and may require reaching out to the site owners for permissions.</a:t>
          </a:r>
        </a:p>
      </dgm:t>
    </dgm:pt>
    <dgm:pt modelId="{0F39C7CA-C036-42A3-A9C0-85CE938AFBE5}" type="parTrans" cxnId="{172D7DC9-3AED-456D-836D-3017500997F1}">
      <dgm:prSet/>
      <dgm:spPr/>
      <dgm:t>
        <a:bodyPr/>
        <a:lstStyle/>
        <a:p>
          <a:endParaRPr lang="en-US"/>
        </a:p>
      </dgm:t>
    </dgm:pt>
    <dgm:pt modelId="{7FDCA381-AC7F-491B-8FF8-74825A919F5A}" type="sibTrans" cxnId="{172D7DC9-3AED-456D-836D-3017500997F1}">
      <dgm:prSet/>
      <dgm:spPr/>
      <dgm:t>
        <a:bodyPr/>
        <a:lstStyle/>
        <a:p>
          <a:endParaRPr lang="en-US"/>
        </a:p>
      </dgm:t>
    </dgm:pt>
    <dgm:pt modelId="{3F29DDBC-151B-4D25-A72C-DBFE4027BAE4}">
      <dgm:prSet phldrT="[Text]" phldr="0"/>
      <dgm:spPr/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Arial"/>
              <a:cs typeface="Arial"/>
            </a:rPr>
            <a:t>Scalable Solution</a:t>
          </a:r>
          <a:endParaRPr lang="en-US" b="1" dirty="0">
            <a:latin typeface="Arial"/>
            <a:cs typeface="Arial"/>
          </a:endParaRPr>
        </a:p>
      </dgm:t>
    </dgm:pt>
    <dgm:pt modelId="{2617293E-2179-49A5-A6ED-6738057C2D37}" type="parTrans" cxnId="{F904F197-FF0A-4FBE-9478-CD051E09F5DA}">
      <dgm:prSet/>
      <dgm:spPr/>
      <dgm:t>
        <a:bodyPr/>
        <a:lstStyle/>
        <a:p>
          <a:endParaRPr lang="en-US"/>
        </a:p>
      </dgm:t>
    </dgm:pt>
    <dgm:pt modelId="{9A306614-FBB7-47CD-896B-A946BD93E6A2}" type="sibTrans" cxnId="{F904F197-FF0A-4FBE-9478-CD051E09F5DA}">
      <dgm:prSet/>
      <dgm:spPr/>
      <dgm:t>
        <a:bodyPr/>
        <a:lstStyle/>
        <a:p>
          <a:endParaRPr lang="en-US"/>
        </a:p>
      </dgm:t>
    </dgm:pt>
    <dgm:pt modelId="{360E792F-6C77-432F-9A9D-BC140A8B9002}">
      <dgm:prSet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Predictions for more locations including those cities that have less housing data to be made available.</a:t>
          </a:r>
        </a:p>
      </dgm:t>
    </dgm:pt>
    <dgm:pt modelId="{615C6440-0C03-4F8C-94BC-AF75EE37062F}" type="parTrans" cxnId="{89A000E9-6CA6-4A90-AAC2-7440A96BD004}">
      <dgm:prSet/>
      <dgm:spPr/>
    </dgm:pt>
    <dgm:pt modelId="{A6267EA4-8674-403B-9E64-D1C528939DB1}" type="sibTrans" cxnId="{89A000E9-6CA6-4A90-AAC2-7440A96BD004}">
      <dgm:prSet/>
      <dgm:spPr/>
    </dgm:pt>
    <dgm:pt modelId="{0304526B-9B81-4027-918B-574FE5D15E5A}">
      <dgm:prSet phldrT="[Text]" phldr="0"/>
      <dgm:spPr/>
      <dgm:t>
        <a:bodyPr/>
        <a:lstStyle/>
        <a:p>
          <a:pPr rtl="0"/>
          <a:r>
            <a:rPr lang="en-US" b="1" dirty="0">
              <a:solidFill>
                <a:srgbClr val="000000"/>
              </a:solidFill>
              <a:latin typeface="Arial"/>
              <a:cs typeface="Arial"/>
            </a:rPr>
            <a:t>Advanced </a:t>
          </a:r>
          <a:r>
            <a:rPr lang="en-US" b="1" dirty="0">
              <a:solidFill>
                <a:srgbClr val="000000"/>
              </a:solidFill>
              <a:latin typeface="Arial"/>
              <a:ea typeface="Calibri"/>
              <a:cs typeface="Arial"/>
            </a:rPr>
            <a:t>Feature Engineering</a:t>
          </a:r>
          <a:endParaRPr lang="en-US" b="1" dirty="0">
            <a:latin typeface="Arial"/>
            <a:cs typeface="Arial"/>
          </a:endParaRPr>
        </a:p>
      </dgm:t>
    </dgm:pt>
    <dgm:pt modelId="{B4D132AB-DA0B-4386-A6C5-0884EAE0464A}" type="parTrans" cxnId="{A51D101F-DE35-42A1-B336-41AC30CE91BA}">
      <dgm:prSet/>
      <dgm:spPr/>
      <dgm:t>
        <a:bodyPr/>
        <a:lstStyle/>
        <a:p>
          <a:endParaRPr lang="en-US"/>
        </a:p>
      </dgm:t>
    </dgm:pt>
    <dgm:pt modelId="{9D2597BC-6D81-45B6-92C2-B67A20CD0096}" type="sibTrans" cxnId="{A51D101F-DE35-42A1-B336-41AC30CE91BA}">
      <dgm:prSet/>
      <dgm:spPr/>
      <dgm:t>
        <a:bodyPr/>
        <a:lstStyle/>
        <a:p>
          <a:endParaRPr lang="en-US"/>
        </a:p>
      </dgm:t>
    </dgm:pt>
    <dgm:pt modelId="{9ACA165D-1BC6-4A97-B74B-80A3D8862982}">
      <dgm:prSet phldr="0"/>
      <dgm:spPr/>
      <dgm:t>
        <a:bodyPr/>
        <a:lstStyle/>
        <a:p>
          <a:pPr rtl="0"/>
          <a:r>
            <a:rPr lang="en-US" dirty="0">
              <a:latin typeface="Arial"/>
              <a:cs typeface="Arial"/>
            </a:rPr>
            <a:t>More Attributes for the Model development like infrastructure and cultural based variables to be made available in future for predictions.</a:t>
          </a:r>
        </a:p>
      </dgm:t>
    </dgm:pt>
    <dgm:pt modelId="{9A2173D2-27D3-4DF4-8019-61F2F87CD9A1}" type="parTrans" cxnId="{0C9A0612-8C8F-4A54-AE15-0EEFDACF2C5B}">
      <dgm:prSet/>
      <dgm:spPr/>
    </dgm:pt>
    <dgm:pt modelId="{9185A0EC-596F-4AC5-B0AD-F186C3CF5B17}" type="sibTrans" cxnId="{0C9A0612-8C8F-4A54-AE15-0EEFDACF2C5B}">
      <dgm:prSet/>
      <dgm:spPr/>
    </dgm:pt>
    <dgm:pt modelId="{19BA6865-49D0-4E2A-8EF5-01EBBA362B73}" type="pres">
      <dgm:prSet presAssocID="{89AA9389-433D-4E87-BC96-1CC5F011F584}" presName="Name0" presStyleCnt="0">
        <dgm:presLayoutVars>
          <dgm:dir/>
          <dgm:animLvl val="lvl"/>
          <dgm:resizeHandles val="exact"/>
        </dgm:presLayoutVars>
      </dgm:prSet>
      <dgm:spPr/>
    </dgm:pt>
    <dgm:pt modelId="{E07033C3-0C66-4DED-AA61-91EF50A570F3}" type="pres">
      <dgm:prSet presAssocID="{30B44A44-C72E-48A3-8E67-81D542BFED0A}" presName="composite" presStyleCnt="0"/>
      <dgm:spPr/>
    </dgm:pt>
    <dgm:pt modelId="{85228194-D542-4AB3-9952-60E2C25257D8}" type="pres">
      <dgm:prSet presAssocID="{30B44A44-C72E-48A3-8E67-81D542BFED0A}" presName="parTx" presStyleLbl="alignNode1" presStyleIdx="0" presStyleCnt="3">
        <dgm:presLayoutVars>
          <dgm:chMax val="0"/>
          <dgm:chPref val="0"/>
        </dgm:presLayoutVars>
      </dgm:prSet>
      <dgm:spPr/>
    </dgm:pt>
    <dgm:pt modelId="{C6C4E455-A42D-4515-8E06-40758B79B158}" type="pres">
      <dgm:prSet presAssocID="{30B44A44-C72E-48A3-8E67-81D542BFED0A}" presName="desTx" presStyleLbl="alignAccFollowNode1" presStyleIdx="0" presStyleCnt="3">
        <dgm:presLayoutVars/>
      </dgm:prSet>
      <dgm:spPr/>
    </dgm:pt>
    <dgm:pt modelId="{C3E52DB9-EC73-4C4B-9F6C-B5B1BDE2EAC2}" type="pres">
      <dgm:prSet presAssocID="{EBBF38A0-349C-4CE0-822C-539D18CFD4B8}" presName="space" presStyleCnt="0"/>
      <dgm:spPr/>
    </dgm:pt>
    <dgm:pt modelId="{67557CDC-B5BE-4C7C-A127-C6B616739A55}" type="pres">
      <dgm:prSet presAssocID="{0304526B-9B81-4027-918B-574FE5D15E5A}" presName="composite" presStyleCnt="0"/>
      <dgm:spPr/>
    </dgm:pt>
    <dgm:pt modelId="{AD9FB956-5984-4F11-949E-99565D54C65C}" type="pres">
      <dgm:prSet presAssocID="{0304526B-9B81-4027-918B-574FE5D15E5A}" presName="parTx" presStyleLbl="alignNode1" presStyleIdx="1" presStyleCnt="3">
        <dgm:presLayoutVars>
          <dgm:chMax val="0"/>
          <dgm:chPref val="0"/>
        </dgm:presLayoutVars>
      </dgm:prSet>
      <dgm:spPr/>
    </dgm:pt>
    <dgm:pt modelId="{35A93C64-DC9F-473E-BE48-055AFD569366}" type="pres">
      <dgm:prSet presAssocID="{0304526B-9B81-4027-918B-574FE5D15E5A}" presName="desTx" presStyleLbl="alignAccFollowNode1" presStyleIdx="1" presStyleCnt="3">
        <dgm:presLayoutVars/>
      </dgm:prSet>
      <dgm:spPr/>
    </dgm:pt>
    <dgm:pt modelId="{5C053DDF-5D81-4784-8DEF-161CC5A3DFC8}" type="pres">
      <dgm:prSet presAssocID="{9D2597BC-6D81-45B6-92C2-B67A20CD0096}" presName="space" presStyleCnt="0"/>
      <dgm:spPr/>
    </dgm:pt>
    <dgm:pt modelId="{D89A0A03-C794-421C-9928-B9B9B3C097B4}" type="pres">
      <dgm:prSet presAssocID="{3F29DDBC-151B-4D25-A72C-DBFE4027BAE4}" presName="composite" presStyleCnt="0"/>
      <dgm:spPr/>
    </dgm:pt>
    <dgm:pt modelId="{0F1A39D1-9E64-4F55-A48F-12557F3045A1}" type="pres">
      <dgm:prSet presAssocID="{3F29DDBC-151B-4D25-A72C-DBFE4027BAE4}" presName="parTx" presStyleLbl="alignNode1" presStyleIdx="2" presStyleCnt="3">
        <dgm:presLayoutVars>
          <dgm:chMax val="0"/>
          <dgm:chPref val="0"/>
        </dgm:presLayoutVars>
      </dgm:prSet>
      <dgm:spPr/>
    </dgm:pt>
    <dgm:pt modelId="{84B04C56-B4AE-455F-B98E-CE0B51C1986C}" type="pres">
      <dgm:prSet presAssocID="{3F29DDBC-151B-4D25-A72C-DBFE4027BAE4}" presName="desTx" presStyleLbl="alignAccFollowNode1" presStyleIdx="2" presStyleCnt="3">
        <dgm:presLayoutVars/>
      </dgm:prSet>
      <dgm:spPr/>
    </dgm:pt>
  </dgm:ptLst>
  <dgm:cxnLst>
    <dgm:cxn modelId="{0C9A0612-8C8F-4A54-AE15-0EEFDACF2C5B}" srcId="{0304526B-9B81-4027-918B-574FE5D15E5A}" destId="{9ACA165D-1BC6-4A97-B74B-80A3D8862982}" srcOrd="0" destOrd="0" parTransId="{9A2173D2-27D3-4DF4-8019-61F2F87CD9A1}" sibTransId="{9185A0EC-596F-4AC5-B0AD-F186C3CF5B17}"/>
    <dgm:cxn modelId="{A42A8719-6DA7-4AAD-8748-2EE3C0C3F157}" type="presOf" srcId="{3F29DDBC-151B-4D25-A72C-DBFE4027BAE4}" destId="{0F1A39D1-9E64-4F55-A48F-12557F3045A1}" srcOrd="0" destOrd="0" presId="urn:microsoft.com/office/officeart/2016/7/layout/ChevronBlockProcess"/>
    <dgm:cxn modelId="{A51D101F-DE35-42A1-B336-41AC30CE91BA}" srcId="{89AA9389-433D-4E87-BC96-1CC5F011F584}" destId="{0304526B-9B81-4027-918B-574FE5D15E5A}" srcOrd="1" destOrd="0" parTransId="{B4D132AB-DA0B-4386-A6C5-0884EAE0464A}" sibTransId="{9D2597BC-6D81-45B6-92C2-B67A20CD0096}"/>
    <dgm:cxn modelId="{90EEF55F-A268-4056-AA89-52C57E730267}" type="presOf" srcId="{30B44A44-C72E-48A3-8E67-81D542BFED0A}" destId="{85228194-D542-4AB3-9952-60E2C25257D8}" srcOrd="0" destOrd="0" presId="urn:microsoft.com/office/officeart/2016/7/layout/ChevronBlockProcess"/>
    <dgm:cxn modelId="{1947756B-0261-4A17-A7D3-4758D9B9CC43}" type="presOf" srcId="{55FF47CF-C50D-45E7-AD7A-1EFA6E91A7AE}" destId="{C6C4E455-A42D-4515-8E06-40758B79B158}" srcOrd="0" destOrd="0" presId="urn:microsoft.com/office/officeart/2016/7/layout/ChevronBlockProcess"/>
    <dgm:cxn modelId="{9020DA71-45B0-4796-A8A7-6224D4498488}" type="presOf" srcId="{89AA9389-433D-4E87-BC96-1CC5F011F584}" destId="{19BA6865-49D0-4E2A-8EF5-01EBBA362B73}" srcOrd="0" destOrd="0" presId="urn:microsoft.com/office/officeart/2016/7/layout/ChevronBlockProcess"/>
    <dgm:cxn modelId="{03C47F7E-02DE-4E33-AC68-BE40A9A81F8E}" type="presOf" srcId="{9ACA165D-1BC6-4A97-B74B-80A3D8862982}" destId="{35A93C64-DC9F-473E-BE48-055AFD569366}" srcOrd="0" destOrd="0" presId="urn:microsoft.com/office/officeart/2016/7/layout/ChevronBlockProcess"/>
    <dgm:cxn modelId="{857A1595-3DA0-4A26-95FE-7AEE5AA69CFE}" type="presOf" srcId="{360E792F-6C77-432F-9A9D-BC140A8B9002}" destId="{84B04C56-B4AE-455F-B98E-CE0B51C1986C}" srcOrd="0" destOrd="0" presId="urn:microsoft.com/office/officeart/2016/7/layout/ChevronBlockProcess"/>
    <dgm:cxn modelId="{F904F197-FF0A-4FBE-9478-CD051E09F5DA}" srcId="{89AA9389-433D-4E87-BC96-1CC5F011F584}" destId="{3F29DDBC-151B-4D25-A72C-DBFE4027BAE4}" srcOrd="2" destOrd="0" parTransId="{2617293E-2179-49A5-A6ED-6738057C2D37}" sibTransId="{9A306614-FBB7-47CD-896B-A946BD93E6A2}"/>
    <dgm:cxn modelId="{7998C999-2928-48EB-9831-B5042441A839}" srcId="{89AA9389-433D-4E87-BC96-1CC5F011F584}" destId="{30B44A44-C72E-48A3-8E67-81D542BFED0A}" srcOrd="0" destOrd="0" parTransId="{B6DD7F57-B86F-424A-95A6-61D6CEB93B25}" sibTransId="{EBBF38A0-349C-4CE0-822C-539D18CFD4B8}"/>
    <dgm:cxn modelId="{CA7570AC-FD17-4C9F-8F59-4F3E99F282FA}" type="presOf" srcId="{0304526B-9B81-4027-918B-574FE5D15E5A}" destId="{AD9FB956-5984-4F11-949E-99565D54C65C}" srcOrd="0" destOrd="0" presId="urn:microsoft.com/office/officeart/2016/7/layout/ChevronBlockProcess"/>
    <dgm:cxn modelId="{172D7DC9-3AED-456D-836D-3017500997F1}" srcId="{30B44A44-C72E-48A3-8E67-81D542BFED0A}" destId="{55FF47CF-C50D-45E7-AD7A-1EFA6E91A7AE}" srcOrd="0" destOrd="0" parTransId="{0F39C7CA-C036-42A3-A9C0-85CE938AFBE5}" sibTransId="{7FDCA381-AC7F-491B-8FF8-74825A919F5A}"/>
    <dgm:cxn modelId="{89A000E9-6CA6-4A90-AAC2-7440A96BD004}" srcId="{3F29DDBC-151B-4D25-A72C-DBFE4027BAE4}" destId="{360E792F-6C77-432F-9A9D-BC140A8B9002}" srcOrd="0" destOrd="0" parTransId="{615C6440-0C03-4F8C-94BC-AF75EE37062F}" sibTransId="{A6267EA4-8674-403B-9E64-D1C528939DB1}"/>
    <dgm:cxn modelId="{ABC8316D-67E8-42CB-AFCE-E1AF2D20418E}" type="presParOf" srcId="{19BA6865-49D0-4E2A-8EF5-01EBBA362B73}" destId="{E07033C3-0C66-4DED-AA61-91EF50A570F3}" srcOrd="0" destOrd="0" presId="urn:microsoft.com/office/officeart/2016/7/layout/ChevronBlockProcess"/>
    <dgm:cxn modelId="{82DD55F2-221E-4150-A7D4-9FECF467CF3A}" type="presParOf" srcId="{E07033C3-0C66-4DED-AA61-91EF50A570F3}" destId="{85228194-D542-4AB3-9952-60E2C25257D8}" srcOrd="0" destOrd="0" presId="urn:microsoft.com/office/officeart/2016/7/layout/ChevronBlockProcess"/>
    <dgm:cxn modelId="{E0657AA1-D5DC-448E-827D-671B16F9846D}" type="presParOf" srcId="{E07033C3-0C66-4DED-AA61-91EF50A570F3}" destId="{C6C4E455-A42D-4515-8E06-40758B79B158}" srcOrd="1" destOrd="0" presId="urn:microsoft.com/office/officeart/2016/7/layout/ChevronBlockProcess"/>
    <dgm:cxn modelId="{5F66E6D7-639B-4BB4-9E45-F67F9B0BEA78}" type="presParOf" srcId="{19BA6865-49D0-4E2A-8EF5-01EBBA362B73}" destId="{C3E52DB9-EC73-4C4B-9F6C-B5B1BDE2EAC2}" srcOrd="1" destOrd="0" presId="urn:microsoft.com/office/officeart/2016/7/layout/ChevronBlockProcess"/>
    <dgm:cxn modelId="{126F2F66-3FBF-4A20-82DC-5779CC19C5F9}" type="presParOf" srcId="{19BA6865-49D0-4E2A-8EF5-01EBBA362B73}" destId="{67557CDC-B5BE-4C7C-A127-C6B616739A55}" srcOrd="2" destOrd="0" presId="urn:microsoft.com/office/officeart/2016/7/layout/ChevronBlockProcess"/>
    <dgm:cxn modelId="{DB3E3EB8-A8E8-4B43-8B62-5EC2438473F9}" type="presParOf" srcId="{67557CDC-B5BE-4C7C-A127-C6B616739A55}" destId="{AD9FB956-5984-4F11-949E-99565D54C65C}" srcOrd="0" destOrd="0" presId="urn:microsoft.com/office/officeart/2016/7/layout/ChevronBlockProcess"/>
    <dgm:cxn modelId="{CD76451F-CFC8-48EF-95D4-4666811EE394}" type="presParOf" srcId="{67557CDC-B5BE-4C7C-A127-C6B616739A55}" destId="{35A93C64-DC9F-473E-BE48-055AFD569366}" srcOrd="1" destOrd="0" presId="urn:microsoft.com/office/officeart/2016/7/layout/ChevronBlockProcess"/>
    <dgm:cxn modelId="{CF16E3D2-EB22-454F-9C00-E3F8E8D8D8F5}" type="presParOf" srcId="{19BA6865-49D0-4E2A-8EF5-01EBBA362B73}" destId="{5C053DDF-5D81-4784-8DEF-161CC5A3DFC8}" srcOrd="3" destOrd="0" presId="urn:microsoft.com/office/officeart/2016/7/layout/ChevronBlockProcess"/>
    <dgm:cxn modelId="{2A6A3D27-3B4B-482C-A8FB-0AB151F7A14F}" type="presParOf" srcId="{19BA6865-49D0-4E2A-8EF5-01EBBA362B73}" destId="{D89A0A03-C794-421C-9928-B9B9B3C097B4}" srcOrd="4" destOrd="0" presId="urn:microsoft.com/office/officeart/2016/7/layout/ChevronBlockProcess"/>
    <dgm:cxn modelId="{A8F87425-B848-4600-BF97-4DECCA017A2B}" type="presParOf" srcId="{D89A0A03-C794-421C-9928-B9B9B3C097B4}" destId="{0F1A39D1-9E64-4F55-A48F-12557F3045A1}" srcOrd="0" destOrd="0" presId="urn:microsoft.com/office/officeart/2016/7/layout/ChevronBlockProcess"/>
    <dgm:cxn modelId="{D08A5AB7-A283-477C-A241-82CD10B75A40}" type="presParOf" srcId="{D89A0A03-C794-421C-9928-B9B9B3C097B4}" destId="{84B04C56-B4AE-455F-B98E-CE0B51C1986C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1D891-D0A2-4E7E-8CAB-BC21E946FBD3}">
      <dsp:nvSpPr>
        <dsp:cNvPr id="0" name=""/>
        <dsp:cNvSpPr/>
      </dsp:nvSpPr>
      <dsp:spPr>
        <a:xfrm>
          <a:off x="0" y="3952"/>
          <a:ext cx="6298238" cy="124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EA355-1359-47FF-9F8A-B8AD71453B6A}">
      <dsp:nvSpPr>
        <dsp:cNvPr id="0" name=""/>
        <dsp:cNvSpPr/>
      </dsp:nvSpPr>
      <dsp:spPr>
        <a:xfrm>
          <a:off x="377004" y="284369"/>
          <a:ext cx="686133" cy="685463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0F0AF-8212-44B2-B0BA-CC97F27C8A9E}">
      <dsp:nvSpPr>
        <dsp:cNvPr id="0" name=""/>
        <dsp:cNvSpPr/>
      </dsp:nvSpPr>
      <dsp:spPr>
        <a:xfrm>
          <a:off x="1440143" y="3952"/>
          <a:ext cx="4801670" cy="1247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029" tIns="132029" rIns="132029" bIns="13202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Machine Learning (ML), a branch of AI, enables systems to learn from data, adapt, and address real-world challenges like predictive analytics and forecasting.</a:t>
          </a:r>
        </a:p>
      </dsp:txBody>
      <dsp:txXfrm>
        <a:off x="1440143" y="3952"/>
        <a:ext cx="4801670" cy="1247515"/>
      </dsp:txXfrm>
    </dsp:sp>
    <dsp:sp modelId="{3077A189-ADCE-4110-BE0B-B7EF62DE8F88}">
      <dsp:nvSpPr>
        <dsp:cNvPr id="0" name=""/>
        <dsp:cNvSpPr/>
      </dsp:nvSpPr>
      <dsp:spPr>
        <a:xfrm>
          <a:off x="0" y="1553895"/>
          <a:ext cx="6298238" cy="124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2728D-D278-47F6-95F1-253BE285982A}">
      <dsp:nvSpPr>
        <dsp:cNvPr id="0" name=""/>
        <dsp:cNvSpPr/>
      </dsp:nvSpPr>
      <dsp:spPr>
        <a:xfrm>
          <a:off x="377004" y="1834312"/>
          <a:ext cx="686133" cy="685463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44286-7506-49BD-929E-D31AD34FC7B8}">
      <dsp:nvSpPr>
        <dsp:cNvPr id="0" name=""/>
        <dsp:cNvSpPr/>
      </dsp:nvSpPr>
      <dsp:spPr>
        <a:xfrm>
          <a:off x="1440143" y="1553895"/>
          <a:ext cx="4801670" cy="1247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029" tIns="132029" rIns="132029" bIns="13202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Real estate prices are volatile and accurate housing price predictions support better decision-making for buyers, sellers, and policymakers.</a:t>
          </a:r>
        </a:p>
      </dsp:txBody>
      <dsp:txXfrm>
        <a:off x="1440143" y="1553895"/>
        <a:ext cx="4801670" cy="1247515"/>
      </dsp:txXfrm>
    </dsp:sp>
    <dsp:sp modelId="{717C76BC-1C4B-4507-B88E-A60A70F282B4}">
      <dsp:nvSpPr>
        <dsp:cNvPr id="0" name=""/>
        <dsp:cNvSpPr/>
      </dsp:nvSpPr>
      <dsp:spPr>
        <a:xfrm>
          <a:off x="0" y="3103839"/>
          <a:ext cx="6298238" cy="12462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029F1-8E8B-4BC2-BBA6-764B49925928}">
      <dsp:nvSpPr>
        <dsp:cNvPr id="0" name=""/>
        <dsp:cNvSpPr/>
      </dsp:nvSpPr>
      <dsp:spPr>
        <a:xfrm>
          <a:off x="377004" y="3384256"/>
          <a:ext cx="686133" cy="6854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57BCB-D77E-4B6F-90A9-CF757BA1C787}">
      <dsp:nvSpPr>
        <dsp:cNvPr id="0" name=""/>
        <dsp:cNvSpPr/>
      </dsp:nvSpPr>
      <dsp:spPr>
        <a:xfrm>
          <a:off x="1440143" y="3103839"/>
          <a:ext cx="4801670" cy="1247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029" tIns="132029" rIns="132029" bIns="13202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This project analyzes the key elements that influencing house prices, such as location, property size, market trends, and economic conditions.</a:t>
          </a:r>
        </a:p>
      </dsp:txBody>
      <dsp:txXfrm>
        <a:off x="1440143" y="3103839"/>
        <a:ext cx="4801670" cy="1247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56E17-55A2-4397-8A5F-21F7D871F99B}">
      <dsp:nvSpPr>
        <dsp:cNvPr id="0" name=""/>
        <dsp:cNvSpPr/>
      </dsp:nvSpPr>
      <dsp:spPr>
        <a:xfrm>
          <a:off x="686474" y="20839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4B73F-925C-4A7C-A57F-5BFB7BD80B40}">
      <dsp:nvSpPr>
        <dsp:cNvPr id="0" name=""/>
        <dsp:cNvSpPr/>
      </dsp:nvSpPr>
      <dsp:spPr>
        <a:xfrm>
          <a:off x="1110599" y="632515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D5F4A-16AD-4C65-A576-72E0A295794D}">
      <dsp:nvSpPr>
        <dsp:cNvPr id="0" name=""/>
        <dsp:cNvSpPr/>
      </dsp:nvSpPr>
      <dsp:spPr>
        <a:xfrm>
          <a:off x="50287" y="2818390"/>
          <a:ext cx="32625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latin typeface="Arial"/>
              <a:cs typeface="Arial"/>
            </a:rPr>
            <a:t>Current method does not provide valuable insights into housing trends or help informed  investment decisions.</a:t>
          </a:r>
        </a:p>
      </dsp:txBody>
      <dsp:txXfrm>
        <a:off x="50287" y="2818390"/>
        <a:ext cx="3262500" cy="787500"/>
      </dsp:txXfrm>
    </dsp:sp>
    <dsp:sp modelId="{9F8575BB-13BF-4B53-B8D3-6625D5FD3A1F}">
      <dsp:nvSpPr>
        <dsp:cNvPr id="0" name=""/>
        <dsp:cNvSpPr/>
      </dsp:nvSpPr>
      <dsp:spPr>
        <a:xfrm>
          <a:off x="4519912" y="20839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F027A-1B30-49FF-8511-3D8EC8BDFDAD}">
      <dsp:nvSpPr>
        <dsp:cNvPr id="0" name=""/>
        <dsp:cNvSpPr/>
      </dsp:nvSpPr>
      <dsp:spPr>
        <a:xfrm>
          <a:off x="4944037" y="632515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CB551-C959-498F-8B3B-ABBEC654286A}">
      <dsp:nvSpPr>
        <dsp:cNvPr id="0" name=""/>
        <dsp:cNvSpPr/>
      </dsp:nvSpPr>
      <dsp:spPr>
        <a:xfrm>
          <a:off x="3883725" y="2818390"/>
          <a:ext cx="32625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latin typeface="Arial"/>
              <a:cs typeface="Arial"/>
            </a:rPr>
            <a:t>The project falls under Data Science, Machine Learning, and Real Estate Market Analysis.</a:t>
          </a:r>
        </a:p>
      </dsp:txBody>
      <dsp:txXfrm>
        <a:off x="3883725" y="2818390"/>
        <a:ext cx="3262500" cy="787500"/>
      </dsp:txXfrm>
    </dsp:sp>
    <dsp:sp modelId="{59CEA010-E21F-4FFF-BAB1-F4425A5AE9D1}">
      <dsp:nvSpPr>
        <dsp:cNvPr id="0" name=""/>
        <dsp:cNvSpPr/>
      </dsp:nvSpPr>
      <dsp:spPr>
        <a:xfrm>
          <a:off x="8353350" y="20839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B9593-0A0C-461D-A3C5-A71CF457A6DF}">
      <dsp:nvSpPr>
        <dsp:cNvPr id="0" name=""/>
        <dsp:cNvSpPr/>
      </dsp:nvSpPr>
      <dsp:spPr>
        <a:xfrm>
          <a:off x="8777475" y="632515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3617C-0690-4AD9-ADA1-1895DD3E0C0E}">
      <dsp:nvSpPr>
        <dsp:cNvPr id="0" name=""/>
        <dsp:cNvSpPr/>
      </dsp:nvSpPr>
      <dsp:spPr>
        <a:xfrm>
          <a:off x="7717162" y="2818390"/>
          <a:ext cx="32625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latin typeface="Arial"/>
              <a:cs typeface="Arial"/>
            </a:rPr>
            <a:t>It will integrate web scraping, data analysis, machine learning, and data visualization techniques to predict house prices in Saskatchewan specifically Regina and Saskatoon.</a:t>
          </a:r>
        </a:p>
      </dsp:txBody>
      <dsp:txXfrm>
        <a:off x="7717162" y="2818390"/>
        <a:ext cx="3262500" cy="78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6E00E-D10F-47C1-9106-9B667955774B}">
      <dsp:nvSpPr>
        <dsp:cNvPr id="0" name=""/>
        <dsp:cNvSpPr/>
      </dsp:nvSpPr>
      <dsp:spPr>
        <a:xfrm>
          <a:off x="2355" y="461896"/>
          <a:ext cx="2296324" cy="883717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tx1"/>
              </a:solidFill>
              <a:latin typeface="Arial"/>
              <a:cs typeface="Arial"/>
            </a:rPr>
            <a:t>Data Privacy and Availability</a:t>
          </a:r>
          <a:endParaRPr lang="en-US" sz="1900" kern="1200" dirty="0">
            <a:solidFill>
              <a:schemeClr val="tx1"/>
            </a:solidFill>
            <a:latin typeface="Arial"/>
            <a:cs typeface="Arial"/>
          </a:endParaRPr>
        </a:p>
      </dsp:txBody>
      <dsp:txXfrm>
        <a:off x="2355" y="461896"/>
        <a:ext cx="2296324" cy="883717"/>
      </dsp:txXfrm>
    </dsp:sp>
    <dsp:sp modelId="{4DF62AFE-6C6E-4C0D-9C84-B88447701832}">
      <dsp:nvSpPr>
        <dsp:cNvPr id="0" name=""/>
        <dsp:cNvSpPr/>
      </dsp:nvSpPr>
      <dsp:spPr>
        <a:xfrm>
          <a:off x="2355" y="1345613"/>
          <a:ext cx="2296324" cy="32312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Arial"/>
              <a:cs typeface="Arial"/>
            </a:rPr>
            <a:t>Some websites does not allow data scraping due to data privacy.</a:t>
          </a:r>
        </a:p>
      </dsp:txBody>
      <dsp:txXfrm>
        <a:off x="2355" y="1345613"/>
        <a:ext cx="2296324" cy="3231216"/>
      </dsp:txXfrm>
    </dsp:sp>
    <dsp:sp modelId="{EE98F2CC-9A2A-443E-9B70-7944C430BBD0}">
      <dsp:nvSpPr>
        <dsp:cNvPr id="0" name=""/>
        <dsp:cNvSpPr/>
      </dsp:nvSpPr>
      <dsp:spPr>
        <a:xfrm>
          <a:off x="2620165" y="461896"/>
          <a:ext cx="2296324" cy="883717"/>
        </a:xfrm>
        <a:prstGeom prst="rect">
          <a:avLst/>
        </a:prstGeom>
        <a:solidFill>
          <a:schemeClr val="accent2">
            <a:shade val="80000"/>
            <a:hueOff val="25601"/>
            <a:satOff val="1240"/>
            <a:lumOff val="9418"/>
            <a:alphaOff val="0"/>
          </a:schemeClr>
        </a:solidFill>
        <a:ln w="12700" cap="flat" cmpd="sng" algn="ctr">
          <a:solidFill>
            <a:schemeClr val="accent2">
              <a:shade val="80000"/>
              <a:hueOff val="25601"/>
              <a:satOff val="1240"/>
              <a:lumOff val="94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tx1"/>
              </a:solidFill>
              <a:latin typeface="Arial"/>
              <a:cs typeface="Arial"/>
            </a:rPr>
            <a:t>Geographical and </a:t>
          </a:r>
          <a:r>
            <a:rPr lang="en-US" sz="1900" b="1" kern="1200" dirty="0">
              <a:solidFill>
                <a:schemeClr val="tx1"/>
              </a:solidFill>
              <a:latin typeface="Arial"/>
              <a:ea typeface="Calibri"/>
              <a:cs typeface="Calibri"/>
            </a:rPr>
            <a:t>Cultural Specific</a:t>
          </a:r>
          <a:endParaRPr lang="en-US" sz="1900" b="1" kern="1200" dirty="0">
            <a:solidFill>
              <a:schemeClr val="tx1"/>
            </a:solidFill>
            <a:latin typeface="Arial"/>
            <a:cs typeface="Arial"/>
          </a:endParaRPr>
        </a:p>
      </dsp:txBody>
      <dsp:txXfrm>
        <a:off x="2620165" y="461896"/>
        <a:ext cx="2296324" cy="883717"/>
      </dsp:txXfrm>
    </dsp:sp>
    <dsp:sp modelId="{867BA278-FE7A-45D0-A89C-E179AAC3D713}">
      <dsp:nvSpPr>
        <dsp:cNvPr id="0" name=""/>
        <dsp:cNvSpPr/>
      </dsp:nvSpPr>
      <dsp:spPr>
        <a:xfrm>
          <a:off x="2620165" y="1345613"/>
          <a:ext cx="2296324" cy="32312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Arial"/>
              <a:cs typeface="Arial"/>
            </a:rPr>
            <a:t>Cities have varying amount of housing data availability. For a better and equal comparison Regina and Saskatoon data were considered.</a:t>
          </a:r>
        </a:p>
      </dsp:txBody>
      <dsp:txXfrm>
        <a:off x="2620165" y="1345613"/>
        <a:ext cx="2296324" cy="3231216"/>
      </dsp:txXfrm>
    </dsp:sp>
    <dsp:sp modelId="{D726756E-96D0-4A97-A421-24C2B5271BB9}">
      <dsp:nvSpPr>
        <dsp:cNvPr id="0" name=""/>
        <dsp:cNvSpPr/>
      </dsp:nvSpPr>
      <dsp:spPr>
        <a:xfrm>
          <a:off x="5237975" y="461896"/>
          <a:ext cx="2296324" cy="883717"/>
        </a:xfrm>
        <a:prstGeom prst="rect">
          <a:avLst/>
        </a:prstGeom>
        <a:solidFill>
          <a:schemeClr val="accent2">
            <a:shade val="80000"/>
            <a:hueOff val="51203"/>
            <a:satOff val="2480"/>
            <a:lumOff val="18836"/>
            <a:alphaOff val="0"/>
          </a:schemeClr>
        </a:solidFill>
        <a:ln w="12700" cap="flat" cmpd="sng" algn="ctr">
          <a:solidFill>
            <a:schemeClr val="accent2">
              <a:shade val="80000"/>
              <a:hueOff val="51203"/>
              <a:satOff val="2480"/>
              <a:lumOff val="188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tx1"/>
              </a:solidFill>
              <a:latin typeface="Arial"/>
              <a:cs typeface="Arial"/>
            </a:rPr>
            <a:t>Measurement and Reporting Inconsistencies</a:t>
          </a:r>
          <a:endParaRPr lang="en-US" sz="1900" kern="1200" dirty="0">
            <a:solidFill>
              <a:schemeClr val="tx1"/>
            </a:solidFill>
            <a:latin typeface="Arial"/>
            <a:cs typeface="Arial"/>
          </a:endParaRPr>
        </a:p>
      </dsp:txBody>
      <dsp:txXfrm>
        <a:off x="5237975" y="461896"/>
        <a:ext cx="2296324" cy="883717"/>
      </dsp:txXfrm>
    </dsp:sp>
    <dsp:sp modelId="{6A098DDF-DADC-4767-ABF4-10842CF7FE53}">
      <dsp:nvSpPr>
        <dsp:cNvPr id="0" name=""/>
        <dsp:cNvSpPr/>
      </dsp:nvSpPr>
      <dsp:spPr>
        <a:xfrm>
          <a:off x="5237975" y="1345613"/>
          <a:ext cx="2296324" cy="32312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Arial"/>
              <a:cs typeface="Arial"/>
            </a:rPr>
            <a:t>Eight attributes were only considered for the model namely bathrooms, bedrooms, </a:t>
          </a:r>
          <a:r>
            <a:rPr lang="en-US" sz="1900" kern="1200" dirty="0" err="1">
              <a:latin typeface="Arial"/>
              <a:cs typeface="Arial"/>
            </a:rPr>
            <a:t>built_year</a:t>
          </a:r>
          <a:r>
            <a:rPr lang="en-US" sz="1900" kern="1200" dirty="0">
              <a:latin typeface="Arial"/>
              <a:cs typeface="Arial"/>
            </a:rPr>
            <a:t>, </a:t>
          </a:r>
          <a:r>
            <a:rPr lang="en-US" sz="1900" kern="1200" dirty="0" err="1">
              <a:latin typeface="Arial"/>
              <a:cs typeface="Arial"/>
            </a:rPr>
            <a:t>garage_space</a:t>
          </a:r>
          <a:r>
            <a:rPr lang="en-US" sz="1900" kern="1200" dirty="0">
              <a:latin typeface="Arial"/>
              <a:cs typeface="Arial"/>
            </a:rPr>
            <a:t>, kitchens, </a:t>
          </a:r>
          <a:r>
            <a:rPr lang="en-US" sz="1900" kern="1200" dirty="0" err="1">
              <a:latin typeface="Arial"/>
              <a:cs typeface="Arial"/>
            </a:rPr>
            <a:t>sqft</a:t>
          </a:r>
          <a:r>
            <a:rPr lang="en-US" sz="1900" kern="1200" dirty="0">
              <a:latin typeface="Arial"/>
              <a:cs typeface="Arial"/>
            </a:rPr>
            <a:t>, </a:t>
          </a:r>
          <a:r>
            <a:rPr lang="en-US" sz="1900" kern="1200" dirty="0" err="1">
              <a:latin typeface="Arial"/>
              <a:cs typeface="Arial"/>
            </a:rPr>
            <a:t>property_type</a:t>
          </a:r>
          <a:r>
            <a:rPr lang="en-US" sz="1900" kern="1200" dirty="0">
              <a:latin typeface="Arial"/>
              <a:cs typeface="Arial"/>
            </a:rPr>
            <a:t> and city.</a:t>
          </a:r>
        </a:p>
      </dsp:txBody>
      <dsp:txXfrm>
        <a:off x="5237975" y="1345613"/>
        <a:ext cx="2296324" cy="32312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28194-D542-4AB3-9952-60E2C25257D8}">
      <dsp:nvSpPr>
        <dsp:cNvPr id="0" name=""/>
        <dsp:cNvSpPr/>
      </dsp:nvSpPr>
      <dsp:spPr>
        <a:xfrm>
          <a:off x="9069" y="461231"/>
          <a:ext cx="3589303" cy="1076790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954" tIns="132954" rIns="132954" bIns="132954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rial"/>
              <a:cs typeface="Arial"/>
            </a:rPr>
            <a:t>Data Privacy and Availability</a:t>
          </a:r>
          <a:endParaRPr lang="en-US" sz="2400" kern="1200" dirty="0">
            <a:solidFill>
              <a:schemeClr val="tx1"/>
            </a:solidFill>
            <a:latin typeface="Arial"/>
            <a:cs typeface="Arial"/>
          </a:endParaRPr>
        </a:p>
      </dsp:txBody>
      <dsp:txXfrm>
        <a:off x="332106" y="461231"/>
        <a:ext cx="2943229" cy="1076790"/>
      </dsp:txXfrm>
    </dsp:sp>
    <dsp:sp modelId="{C6C4E455-A42D-4515-8E06-40758B79B158}">
      <dsp:nvSpPr>
        <dsp:cNvPr id="0" name=""/>
        <dsp:cNvSpPr/>
      </dsp:nvSpPr>
      <dsp:spPr>
        <a:xfrm>
          <a:off x="9069" y="1538022"/>
          <a:ext cx="3266265" cy="218452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108" tIns="258108" rIns="258108" bIns="516215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  <a:cs typeface="Arial"/>
            </a:rPr>
            <a:t>Some site data require permissions for data extraction and may require reaching out to the site owners for permissions.</a:t>
          </a:r>
        </a:p>
      </dsp:txBody>
      <dsp:txXfrm>
        <a:off x="9069" y="1538022"/>
        <a:ext cx="3266265" cy="2184520"/>
      </dsp:txXfrm>
    </dsp:sp>
    <dsp:sp modelId="{AD9FB956-5984-4F11-949E-99565D54C65C}">
      <dsp:nvSpPr>
        <dsp:cNvPr id="0" name=""/>
        <dsp:cNvSpPr/>
      </dsp:nvSpPr>
      <dsp:spPr>
        <a:xfrm>
          <a:off x="3545027" y="461231"/>
          <a:ext cx="3589303" cy="1076790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954" tIns="132954" rIns="132954" bIns="132954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00000"/>
              </a:solidFill>
              <a:latin typeface="Arial"/>
              <a:cs typeface="Arial"/>
            </a:rPr>
            <a:t>Advanced </a:t>
          </a:r>
          <a:r>
            <a:rPr lang="en-US" sz="2400" b="1" kern="1200" dirty="0">
              <a:solidFill>
                <a:srgbClr val="000000"/>
              </a:solidFill>
              <a:latin typeface="Arial"/>
              <a:ea typeface="Calibri"/>
              <a:cs typeface="Arial"/>
            </a:rPr>
            <a:t>Feature Engineering</a:t>
          </a:r>
          <a:endParaRPr lang="en-US" sz="2400" b="1" kern="1200" dirty="0">
            <a:latin typeface="Arial"/>
            <a:cs typeface="Arial"/>
          </a:endParaRPr>
        </a:p>
      </dsp:txBody>
      <dsp:txXfrm>
        <a:off x="3868064" y="461231"/>
        <a:ext cx="2943229" cy="1076790"/>
      </dsp:txXfrm>
    </dsp:sp>
    <dsp:sp modelId="{35A93C64-DC9F-473E-BE48-055AFD569366}">
      <dsp:nvSpPr>
        <dsp:cNvPr id="0" name=""/>
        <dsp:cNvSpPr/>
      </dsp:nvSpPr>
      <dsp:spPr>
        <a:xfrm>
          <a:off x="3545027" y="1538022"/>
          <a:ext cx="3266265" cy="218452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108" tIns="258108" rIns="258108" bIns="516215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  <a:cs typeface="Arial"/>
            </a:rPr>
            <a:t>More Attributes for the Model development like infrastructure and cultural based variables to be made available in future for predictions.</a:t>
          </a:r>
        </a:p>
      </dsp:txBody>
      <dsp:txXfrm>
        <a:off x="3545027" y="1538022"/>
        <a:ext cx="3266265" cy="2184520"/>
      </dsp:txXfrm>
    </dsp:sp>
    <dsp:sp modelId="{0F1A39D1-9E64-4F55-A48F-12557F3045A1}">
      <dsp:nvSpPr>
        <dsp:cNvPr id="0" name=""/>
        <dsp:cNvSpPr/>
      </dsp:nvSpPr>
      <dsp:spPr>
        <a:xfrm>
          <a:off x="7080986" y="461231"/>
          <a:ext cx="3589303" cy="1076790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2954" tIns="132954" rIns="132954" bIns="132954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00000"/>
              </a:solidFill>
              <a:latin typeface="Arial"/>
              <a:cs typeface="Arial"/>
            </a:rPr>
            <a:t>Scalable Solution</a:t>
          </a:r>
          <a:endParaRPr lang="en-US" sz="2400" b="1" kern="1200" dirty="0">
            <a:latin typeface="Arial"/>
            <a:cs typeface="Arial"/>
          </a:endParaRPr>
        </a:p>
      </dsp:txBody>
      <dsp:txXfrm>
        <a:off x="7404023" y="461231"/>
        <a:ext cx="2943229" cy="1076790"/>
      </dsp:txXfrm>
    </dsp:sp>
    <dsp:sp modelId="{84B04C56-B4AE-455F-B98E-CE0B51C1986C}">
      <dsp:nvSpPr>
        <dsp:cNvPr id="0" name=""/>
        <dsp:cNvSpPr/>
      </dsp:nvSpPr>
      <dsp:spPr>
        <a:xfrm>
          <a:off x="7080986" y="1538022"/>
          <a:ext cx="3266265" cy="218452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108" tIns="258108" rIns="258108" bIns="516215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/>
              <a:cs typeface="Arial"/>
            </a:rPr>
            <a:t>Predictions for more locations including those cities that have less housing data to be made available.</a:t>
          </a:r>
        </a:p>
      </dsp:txBody>
      <dsp:txXfrm>
        <a:off x="7080986" y="1538022"/>
        <a:ext cx="3266265" cy="2184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999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917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999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25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0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2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02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03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13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55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12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34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babu0832@saskpolytech.ca" TargetMode="External"/><Relationship Id="rId4" Type="http://schemas.openxmlformats.org/officeDocument/2006/relationships/hyperlink" Target="mailto:mohandas9786@saskpolytech.c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illow.com/regina-sk/?msockid=0d1ba9efbeda6bc43116bcf4bf6e6a72" TargetMode="External"/><Relationship Id="rId2" Type="http://schemas.openxmlformats.org/officeDocument/2006/relationships/hyperlink" Target="https://github.com/slavaspirin/Toronto-housing-price-prediction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eg"/><Relationship Id="rId5" Type="http://schemas.openxmlformats.org/officeDocument/2006/relationships/hyperlink" Target="https://static.packt-cdn.com/products/9781788627306/graphics/e5ed1547-817a-459c-861d-f0aa21ecc530.png" TargetMode="External"/><Relationship Id="rId4" Type="http://schemas.openxmlformats.org/officeDocument/2006/relationships/hyperlink" Target="https://www.w3schools.com/python/python_ml_getting_started.asp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ut-out of a house tied with a green ribbon">
            <a:extLst>
              <a:ext uri="{FF2B5EF4-FFF2-40B4-BE49-F238E27FC236}">
                <a16:creationId xmlns:a16="http://schemas.microsoft.com/office/drawing/2014/main" id="{8D844FD8-F4B8-BD2A-FF95-C208F580B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t="10264" r="-2" b="5338"/>
          <a:stretch/>
        </p:blipFill>
        <p:spPr>
          <a:xfrm>
            <a:off x="20" y="-22"/>
            <a:ext cx="12191977" cy="685802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19884" cy="813858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4800" b="1" dirty="0">
                <a:latin typeface="TW Cen MT"/>
              </a:rPr>
              <a:t>Saskatchewan House Price Prediction</a:t>
            </a:r>
            <a:endParaRPr lang="en-US" sz="4800" b="1"/>
          </a:p>
          <a:p>
            <a:pPr algn="ctr"/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779" y="3896188"/>
            <a:ext cx="4449355" cy="2104023"/>
          </a:xfr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r>
              <a:rPr lang="en-US" sz="2400" b="1" dirty="0">
                <a:latin typeface="Arial"/>
                <a:cs typeface="Arial"/>
              </a:rPr>
              <a:t>Submitted By,</a:t>
            </a:r>
          </a:p>
          <a:p>
            <a:r>
              <a:rPr lang="en-US" sz="2500" b="1" dirty="0">
                <a:latin typeface="Arial"/>
                <a:cs typeface="Arial"/>
              </a:rPr>
              <a:t>Anu Mohan Das :</a:t>
            </a:r>
          </a:p>
          <a:p>
            <a:r>
              <a:rPr lang="en-US" sz="2500" b="1" dirty="0">
                <a:latin typeface="Arial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mohandas9786@saskpolytech.ca</a:t>
            </a:r>
            <a:endParaRPr lang="en-US" sz="2500" b="1" dirty="0">
              <a:latin typeface="Arial"/>
              <a:cs typeface="Arial"/>
            </a:endParaRPr>
          </a:p>
          <a:p>
            <a:endParaRPr lang="en-US" sz="25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b="1" dirty="0">
                <a:latin typeface="Arial"/>
                <a:cs typeface="Arial"/>
              </a:rPr>
              <a:t>Ivy Alphonse Babu: </a:t>
            </a:r>
            <a:endParaRPr lang="en-US" dirty="0"/>
          </a:p>
          <a:p>
            <a:r>
              <a:rPr lang="en-US" sz="2500" b="1" dirty="0">
                <a:latin typeface="Arial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babu0832@saskpolytech.ca</a:t>
            </a:r>
            <a:endParaRPr lang="en-US" sz="2500" b="1" dirty="0">
              <a:latin typeface="Arial"/>
              <a:cs typeface="Arial"/>
            </a:endParaRPr>
          </a:p>
          <a:p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75A14B9-4BCB-DD80-FC22-AB22B5497816}"/>
              </a:ext>
            </a:extLst>
          </p:cNvPr>
          <p:cNvSpPr txBox="1">
            <a:spLocks/>
          </p:cNvSpPr>
          <p:nvPr/>
        </p:nvSpPr>
        <p:spPr>
          <a:xfrm>
            <a:off x="478925" y="2728912"/>
            <a:ext cx="3050088" cy="103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Presented</a:t>
            </a:r>
            <a:r>
              <a:rPr lang="en-US" sz="2400" dirty="0">
                <a:solidFill>
                  <a:schemeClr val="tx1"/>
                </a:solidFill>
              </a:rPr>
              <a:t> to,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Rahim samei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01F5C25-3FDB-5B52-90C4-C4145B0794D2}"/>
              </a:ext>
            </a:extLst>
          </p:cNvPr>
          <p:cNvSpPr txBox="1">
            <a:spLocks/>
          </p:cNvSpPr>
          <p:nvPr/>
        </p:nvSpPr>
        <p:spPr>
          <a:xfrm>
            <a:off x="1588587" y="1588886"/>
            <a:ext cx="8060238" cy="49887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i="0" dirty="0">
                <a:solidFill>
                  <a:schemeClr val="tx1"/>
                </a:solidFill>
                <a:effectLst/>
                <a:latin typeface="Tw Cen MT"/>
              </a:rPr>
              <a:t>PROJ-613-R05 Capstone Project</a:t>
            </a:r>
            <a:endParaRPr lang="en-US" sz="2400" b="1">
              <a:solidFill>
                <a:schemeClr val="tx1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91FF-8841-611A-799C-A38775B9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4217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8C1A3F0-4C86-C05E-E9F4-B1E0A3604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692221"/>
              </p:ext>
            </p:extLst>
          </p:nvPr>
        </p:nvGraphicFramePr>
        <p:xfrm>
          <a:off x="581192" y="1528762"/>
          <a:ext cx="6298238" cy="4355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Picture 18" descr="Houses in a subdivision">
            <a:extLst>
              <a:ext uri="{FF2B5EF4-FFF2-40B4-BE49-F238E27FC236}">
                <a16:creationId xmlns:a16="http://schemas.microsoft.com/office/drawing/2014/main" id="{1A862C51-9C25-E934-6D5B-9F93ACCC3B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869" r="20670" b="-1"/>
          <a:stretch/>
        </p:blipFill>
        <p:spPr>
          <a:xfrm>
            <a:off x="7308057" y="10"/>
            <a:ext cx="4895849" cy="68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5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CC93-0802-F3BD-9FBB-12D422BB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AB15E47-6927-54DC-00BA-4321B30796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39239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892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AD72-C5C0-4268-CE18-81C452A0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6650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dirty="0">
                <a:latin typeface="Arial"/>
                <a:cs typeface="Arial"/>
              </a:rPr>
              <a:t>Data Pipeline and technologies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BDD4F8-93F3-DCB4-5870-573429BBA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125102"/>
              </p:ext>
            </p:extLst>
          </p:nvPr>
        </p:nvGraphicFramePr>
        <p:xfrm>
          <a:off x="881062" y="1345406"/>
          <a:ext cx="5747649" cy="462879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889501">
                  <a:extLst>
                    <a:ext uri="{9D8B030D-6E8A-4147-A177-3AD203B41FA5}">
                      <a16:colId xmlns:a16="http://schemas.microsoft.com/office/drawing/2014/main" val="2375480124"/>
                    </a:ext>
                  </a:extLst>
                </a:gridCol>
                <a:gridCol w="2858148">
                  <a:extLst>
                    <a:ext uri="{9D8B030D-6E8A-4147-A177-3AD203B41FA5}">
                      <a16:colId xmlns:a16="http://schemas.microsoft.com/office/drawing/2014/main" val="3824454641"/>
                    </a:ext>
                  </a:extLst>
                </a:gridCol>
              </a:tblGrid>
              <a:tr h="417636"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Steps</a:t>
                      </a:r>
                    </a:p>
                  </a:txBody>
                  <a:tcPr marL="153376" marR="92026" marT="77295" marB="7729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cap="all" spc="6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Technology</a:t>
                      </a:r>
                    </a:p>
                  </a:txBody>
                  <a:tcPr marL="153376" marR="92026" marT="77295" marB="7729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093585"/>
                  </a:ext>
                </a:extLst>
              </a:tr>
              <a:tr h="435037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Web scraping data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Magical API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719988"/>
                  </a:ext>
                </a:extLst>
              </a:tr>
              <a:tr h="713461"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2. Data Cleaning and Preprocessing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Using  Python, NumPy and Pandas 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019691"/>
                  </a:ext>
                </a:extLst>
              </a:tr>
              <a:tr h="435037"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3. Conducting EDA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 Matplotlib, Seaborn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678714"/>
                  </a:ext>
                </a:extLst>
              </a:tr>
              <a:tr h="957083"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4. Model Development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Linear Regression, Decision Tree and Random Forest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5121"/>
                  </a:ext>
                </a:extLst>
              </a:tr>
              <a:tr h="713461"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5. Model Validation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Cross Validation-MSE and </a:t>
                      </a:r>
                      <a:r>
                        <a:rPr lang="en-US" sz="1600" b="1" cap="none" spc="0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Rsquared</a:t>
                      </a:r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 Score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72876"/>
                  </a:ext>
                </a:extLst>
              </a:tr>
              <a:tr h="957083">
                <a:tc>
                  <a:txBody>
                    <a:bodyPr/>
                    <a:lstStyle/>
                    <a:p>
                      <a:r>
                        <a:rPr lang="en-US" sz="1600" b="1" cap="none" spc="0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6. User Interface creation</a:t>
                      </a: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cap="none" spc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Streamlit</a:t>
                      </a:r>
                      <a:endParaRPr lang="en-US" sz="1600" b="1" cap="none" spc="0" dirty="0" err="1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53376" marR="92026" marT="92026" marB="772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548926"/>
                  </a:ext>
                </a:extLst>
              </a:tr>
            </a:tbl>
          </a:graphicData>
        </a:graphic>
      </p:graphicFrame>
      <p:pic>
        <p:nvPicPr>
          <p:cNvPr id="10" name="Picture 9" descr="A diagram of a data preparation&#10;&#10;Description automatically generated">
            <a:extLst>
              <a:ext uri="{FF2B5EF4-FFF2-40B4-BE49-F238E27FC236}">
                <a16:creationId xmlns:a16="http://schemas.microsoft.com/office/drawing/2014/main" id="{B05DBB00-D83C-4647-B5DC-284C22AA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153" y="2239414"/>
            <a:ext cx="4903260" cy="2297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833977-5A9C-6971-FF20-129617E04BA6}"/>
              </a:ext>
            </a:extLst>
          </p:cNvPr>
          <p:cNvSpPr txBox="1"/>
          <p:nvPr/>
        </p:nvSpPr>
        <p:spPr>
          <a:xfrm>
            <a:off x="8395435" y="4663646"/>
            <a:ext cx="239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41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DC9D-36DB-AE0E-5C2C-1A6FD31E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41" y="922096"/>
            <a:ext cx="10679359" cy="5494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/>
                <a:cs typeface="Arial"/>
              </a:rPr>
              <a:t>USER INTERFACE 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057654EE-20BE-1EC1-92E2-8841930DE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112" y="1604377"/>
            <a:ext cx="10644186" cy="43468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21E20-60FF-9E8B-A8E3-31737213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9DE8-FCCF-4D73-86A9-3DADFF208F3F}" type="datetime1">
              <a:t>12/13/2024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B0F55-0463-0FAD-C277-E5DA278F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38D9-4411-755F-38B0-088EDBFF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80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2D75-B7F0-F79A-5F37-8D719E37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8243554" cy="65992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limitation</a:t>
            </a:r>
            <a:endParaRPr lang="en-US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1AF4E-A4C2-3ECB-27EF-96E8266C0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03857"/>
            <a:ext cx="8072116" cy="426038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Calisto MT"/>
              <a:cs typeface="Arial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</p:txBody>
      </p:sp>
      <p:pic>
        <p:nvPicPr>
          <p:cNvPr id="5" name="Picture 4" descr="Bright ladder against dull ladders">
            <a:extLst>
              <a:ext uri="{FF2B5EF4-FFF2-40B4-BE49-F238E27FC236}">
                <a16:creationId xmlns:a16="http://schemas.microsoft.com/office/drawing/2014/main" id="{FD4331A5-9935-9B4F-F08D-70D2055F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30" r="19630"/>
          <a:stretch/>
        </p:blipFill>
        <p:spPr>
          <a:xfrm>
            <a:off x="8848237" y="915522"/>
            <a:ext cx="2757888" cy="5036549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8B26CC-2FEF-BAA6-8F33-1357A5B16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2434709"/>
              </p:ext>
            </p:extLst>
          </p:nvPr>
        </p:nvGraphicFramePr>
        <p:xfrm>
          <a:off x="1119186" y="1171573"/>
          <a:ext cx="7536656" cy="5038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60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2D75-B7F0-F79A-5F37-8D719E37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pPr algn="ctr"/>
            <a:r>
              <a:rPr lang="en-US" b="1" dirty="0">
                <a:latin typeface="Arial"/>
                <a:cs typeface="Arial"/>
              </a:rPr>
              <a:t>FUTURE</a:t>
            </a:r>
            <a:endParaRPr lang="en-US"/>
          </a:p>
        </p:txBody>
      </p:sp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24AFB5EC-2A0D-9728-D79A-64FDA8EA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15F87AD-FC09-4237-9AC8-C85C51A0601C}" type="datetime1">
              <a:pPr>
                <a:spcAft>
                  <a:spcPts val="600"/>
                </a:spcAft>
              </a:pPr>
              <a:t>12/13/2024</a:t>
            </a:fld>
            <a:endParaRPr lang="en-US"/>
          </a:p>
        </p:txBody>
      </p:sp>
      <p:sp>
        <p:nvSpPr>
          <p:cNvPr id="49" name="Footer Placeholder 4">
            <a:extLst>
              <a:ext uri="{FF2B5EF4-FFF2-40B4-BE49-F238E27FC236}">
                <a16:creationId xmlns:a16="http://schemas.microsoft.com/office/drawing/2014/main" id="{6A83A7FA-C905-36EA-299E-F82B2761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EE4AF060-5A90-5803-BEDF-9A9A3340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8B26CC-2FEF-BAA6-8F33-1357A5B16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4377"/>
              </p:ext>
            </p:extLst>
          </p:nvPr>
        </p:nvGraphicFramePr>
        <p:xfrm>
          <a:off x="712541" y="1745439"/>
          <a:ext cx="10679359" cy="4183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426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1D67-D4BE-F774-FC2A-24063ED4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DDB8-F06D-2D1F-D138-34968F90A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74" y="1865915"/>
            <a:ext cx="6309003" cy="26376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data science techniques like web scraping, data preprocessing, ML model and Visualization, we can predict house prices more accurately from historical or real-time data. 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can give insight and help real estate professionals make informed decisions in their business and find opportunities for real estate development.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9" name="Picture 18" descr="A midsection of a person holding a miniature house">
            <a:extLst>
              <a:ext uri="{FF2B5EF4-FFF2-40B4-BE49-F238E27FC236}">
                <a16:creationId xmlns:a16="http://schemas.microsoft.com/office/drawing/2014/main" id="{F64BC2E6-0F34-558C-7A05-D61E592DA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5" r="27586" b="-7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8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837A-A227-B76D-9003-D9F8C2C0F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315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654FFA1-8689-1C87-7476-5A3B9AD7D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76273" y="2728183"/>
            <a:ext cx="4715408" cy="343846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l"/>
            <a:r>
              <a:rPr lang="en-US" dirty="0">
                <a:latin typeface="Arial"/>
                <a:cs typeface="Arial"/>
              </a:rPr>
              <a:t>1.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Slavaspirin.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Toronto-housing-price-prediction/</a:t>
            </a:r>
            <a:r>
              <a:rPr lang="en-US" b="0" i="1" u="none" strike="noStrike" baseline="0" dirty="0" err="1">
                <a:solidFill>
                  <a:srgbClr val="000000"/>
                </a:solidFill>
                <a:latin typeface="Arial"/>
                <a:cs typeface="Arial"/>
              </a:rPr>
              <a:t>GTA_housing.ipynb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at master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. GitHub, </a:t>
            </a:r>
            <a:r>
              <a:rPr lang="en-US" b="0" i="0" u="none" strike="noStrike" baseline="0" dirty="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link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. 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2.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/>
                <a:cs typeface="Arial"/>
              </a:rPr>
              <a:t>Zillow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.ca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. for web scraping </a:t>
            </a:r>
            <a:r>
              <a:rPr lang="en-US" i="1" dirty="0">
                <a:solidFill>
                  <a:srgbClr val="000000"/>
                </a:solidFill>
                <a:latin typeface="Arial"/>
                <a:cs typeface="Arial"/>
              </a:rPr>
              <a:t>- </a:t>
            </a:r>
            <a:r>
              <a:rPr lang="en-US" i="1" dirty="0">
                <a:solidFill>
                  <a:srgbClr val="000000"/>
                </a:solidFill>
                <a:latin typeface="Arial"/>
                <a:cs typeface="Arial"/>
                <a:hlinkClick r:id="rId3"/>
              </a:rPr>
              <a:t>link</a:t>
            </a:r>
            <a:endParaRPr lang="en-US">
              <a:solidFill>
                <a:srgbClr val="800080"/>
              </a:solidFill>
              <a:latin typeface="Arial"/>
              <a:cs typeface="Arial"/>
            </a:endParaRPr>
          </a:p>
          <a:p>
            <a:pPr algn="l"/>
            <a:r>
              <a:rPr lang="en-US" dirty="0">
                <a:latin typeface="Arial"/>
                <a:cs typeface="Arial"/>
              </a:rPr>
              <a:t>3.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W3Schools.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Python Machine Learning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. </a:t>
            </a:r>
            <a:r>
              <a:rPr lang="en-US" b="0" i="0" u="none" strike="noStrike" baseline="0" dirty="0">
                <a:solidFill>
                  <a:srgbClr val="800080"/>
                </a:solidFill>
                <a:latin typeface="Arial"/>
                <a:cs typeface="Arial"/>
                <a:hlinkClick r:id="rId4"/>
              </a:rPr>
              <a:t>link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. 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4.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Data Architecture Simple Model:</a:t>
            </a:r>
            <a:r>
              <a:rPr lang="en-US" i="1" dirty="0">
                <a:solidFill>
                  <a:srgbClr val="000000"/>
                </a:solidFill>
                <a:latin typeface="Arial"/>
                <a:cs typeface="Arial"/>
              </a:rPr>
              <a:t>fig1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Data Collection and Preprocessing </a:t>
            </a:r>
            <a:r>
              <a:rPr lang="en-US" b="0" i="0" u="none" strike="noStrike" baseline="0" dirty="0">
                <a:solidFill>
                  <a:srgbClr val="0000FF"/>
                </a:solidFill>
                <a:latin typeface="Arial"/>
                <a:cs typeface="Arial"/>
                <a:hlinkClick r:id="rId5"/>
              </a:rPr>
              <a:t>link</a:t>
            </a:r>
            <a:r>
              <a:rPr lang="en-US" b="0" i="0" u="none" strike="noStrike" baseline="0" dirty="0">
                <a:solidFill>
                  <a:srgbClr val="0000FF"/>
                </a:solidFill>
                <a:latin typeface="Arial"/>
                <a:cs typeface="Arial"/>
              </a:rPr>
              <a:t>. </a:t>
            </a:r>
          </a:p>
          <a:p>
            <a:endParaRPr lang="en-US" sz="1800" b="0" i="0" u="none" strike="noStrike" baseline="0" dirty="0">
              <a:solidFill>
                <a:srgbClr val="0000FF"/>
              </a:solidFill>
              <a:latin typeface="Aptos" panose="020B0004020202020204" pitchFamily="34" charset="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05435" indent="-305435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Content Placeholder 24" descr="Abstract blurred public library with bookshelves">
            <a:extLst>
              <a:ext uri="{FF2B5EF4-FFF2-40B4-BE49-F238E27FC236}">
                <a16:creationId xmlns:a16="http://schemas.microsoft.com/office/drawing/2014/main" id="{1B5B4A86-7A91-D766-0127-95EF3C5CB1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/>
          <a:stretch>
            <a:fillRect/>
          </a:stretch>
        </p:blipFill>
        <p:spPr>
          <a:xfrm>
            <a:off x="780698" y="1950108"/>
            <a:ext cx="4748741" cy="383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B695-CA8C-C8AA-021F-33445B4C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Thank you!</a:t>
            </a:r>
            <a:endParaRPr lang="en-US" sz="3600"/>
          </a:p>
        </p:txBody>
      </p:sp>
      <p:pic>
        <p:nvPicPr>
          <p:cNvPr id="8" name="Content Placeholder 7" descr="Blue 3d house and several white 3d houses">
            <a:extLst>
              <a:ext uri="{FF2B5EF4-FFF2-40B4-BE49-F238E27FC236}">
                <a16:creationId xmlns:a16="http://schemas.microsoft.com/office/drawing/2014/main" id="{426620B7-C612-DE08-D32A-87F18BB216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94869" y="2055377"/>
            <a:ext cx="5303837" cy="3539409"/>
          </a:xfrm>
        </p:spPr>
      </p:pic>
    </p:spTree>
    <p:extLst>
      <p:ext uri="{BB962C8B-B14F-4D97-AF65-F5344CB8AC3E}">
        <p14:creationId xmlns:p14="http://schemas.microsoft.com/office/powerpoint/2010/main" val="9454642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563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Saskatchewan House Price Prediction </vt:lpstr>
      <vt:lpstr>Introduction</vt:lpstr>
      <vt:lpstr>PROBLEM STATEMENT</vt:lpstr>
      <vt:lpstr>Data Pipeline and technologies</vt:lpstr>
      <vt:lpstr>USER INTERFACE </vt:lpstr>
      <vt:lpstr>limitation</vt:lpstr>
      <vt:lpstr>FUTURE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Saskatchewan House Price Prediction</dc:title>
  <dc:creator>Ivy</dc:creator>
  <cp:lastModifiedBy>ivyalphonsebabu@hotmail.com</cp:lastModifiedBy>
  <cp:revision>1027</cp:revision>
  <dcterms:created xsi:type="dcterms:W3CDTF">2024-10-04T21:29:45Z</dcterms:created>
  <dcterms:modified xsi:type="dcterms:W3CDTF">2024-12-13T19:56:43Z</dcterms:modified>
</cp:coreProperties>
</file>